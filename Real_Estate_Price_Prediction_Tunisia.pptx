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3.xml" ContentType="application/vnd.openxmlformats-officedocument.drawingml.chart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60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fr-FR" sz="1100" b="0" i="0" u="none" strike="noStrike">
                <a:solidFill>
                  <a:srgbClr val="1E293B"/>
                </a:solidFill>
                <a:latin typeface="Arial"/>
              </a:rPr>
              <a:t>R² Comparison (Test Set)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Test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565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9B8-4243-8DA3-8903EA25063F}"/>
              </c:ext>
            </c:extLst>
          </c:dPt>
          <c:dPt>
            <c:idx val="1"/>
            <c:invertIfNegative val="0"/>
            <c:bubble3D val="0"/>
            <c:spPr>
              <a:solidFill>
                <a:srgbClr val="1565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9B8-4243-8DA3-8903EA25063F}"/>
              </c:ext>
            </c:extLst>
          </c:dPt>
          <c:dPt>
            <c:idx val="2"/>
            <c:invertIfNegative val="0"/>
            <c:bubble3D val="0"/>
            <c:spPr>
              <a:solidFill>
                <a:srgbClr val="1565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9B8-4243-8DA3-8903EA25063F}"/>
              </c:ext>
            </c:extLst>
          </c:dPt>
          <c:dPt>
            <c:idx val="3"/>
            <c:invertIfNegative val="0"/>
            <c:bubble3D val="0"/>
            <c:spPr>
              <a:solidFill>
                <a:srgbClr val="1565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9B8-4243-8DA3-8903EA25063F}"/>
              </c:ext>
            </c:extLst>
          </c:dPt>
          <c:dPt>
            <c:idx val="4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9B8-4243-8DA3-8903EA25063F}"/>
              </c:ext>
            </c:extLst>
          </c:dPt>
          <c:dLbls>
            <c:numFmt formatCode="0.00##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ar-T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Linear
Regression</c:v>
                </c:pt>
                <c:pt idx="1">
                  <c:v>Gradient
Boosting</c:v>
                </c:pt>
                <c:pt idx="2">
                  <c:v>Random
Forest</c:v>
                </c:pt>
                <c:pt idx="3">
                  <c:v>XGBoost</c:v>
                </c:pt>
                <c:pt idx="4">
                  <c:v>KNN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0.4708</c:v>
                </c:pt>
                <c:pt idx="1">
                  <c:v>0.46560000000000001</c:v>
                </c:pt>
                <c:pt idx="2">
                  <c:v>0.46039999999999998</c:v>
                </c:pt>
                <c:pt idx="3">
                  <c:v>0.46029999999999999</c:v>
                </c:pt>
                <c:pt idx="4">
                  <c:v>0.2064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69B8-4243-8DA3-8903EA25063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ar-TN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6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ar-TN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fr-FR" sz="1100" b="0" i="0" u="none" strike="noStrike">
                <a:solidFill>
                  <a:srgbClr val="1E293B"/>
                </a:solidFill>
                <a:latin typeface="Arial"/>
              </a:rPr>
              <a:t>RMSE Comparison (TND)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 (TND)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999-4590-91C0-BCA01D5BEE37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0999-4590-91C0-BCA01D5BEE37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0999-4590-91C0-BCA01D5BEE37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0999-4590-91C0-BCA01D5BEE37}"/>
              </c:ext>
            </c:extLst>
          </c:dPt>
          <c:dPt>
            <c:idx val="4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0999-4590-91C0-BCA01D5BEE37}"/>
              </c:ext>
            </c:extLst>
          </c:dPt>
          <c:cat>
            <c:strRef>
              <c:f>Sheet1!$A$2:$A$6</c:f>
              <c:strCache>
                <c:ptCount val="5"/>
                <c:pt idx="0">
                  <c:v>Linear
Regression</c:v>
                </c:pt>
                <c:pt idx="1">
                  <c:v>Gradient
Boosting</c:v>
                </c:pt>
                <c:pt idx="2">
                  <c:v>Random
Forest</c:v>
                </c:pt>
                <c:pt idx="3">
                  <c:v>XGBoost</c:v>
                </c:pt>
                <c:pt idx="4">
                  <c:v>KNN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197432</c:v>
                </c:pt>
                <c:pt idx="1">
                  <c:v>198396</c:v>
                </c:pt>
                <c:pt idx="2">
                  <c:v>199358</c:v>
                </c:pt>
                <c:pt idx="3">
                  <c:v>199371</c:v>
                </c:pt>
                <c:pt idx="4">
                  <c:v>241769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999-4590-91C0-BCA01D5BEE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ar-TN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700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ar-TN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fr-FR" sz="1100" b="0" i="0" u="none" strike="noStrike">
                <a:solidFill>
                  <a:srgbClr val="1E293B"/>
                </a:solidFill>
                <a:latin typeface="Arial"/>
              </a:rPr>
              <a:t>R² Comparison with Literature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565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E1D-41E7-8002-2005D40F58C2}"/>
              </c:ext>
            </c:extLst>
          </c:dPt>
          <c:dPt>
            <c:idx val="1"/>
            <c:invertIfNegative val="0"/>
            <c:bubble3D val="0"/>
            <c:spPr>
              <a:solidFill>
                <a:srgbClr val="1565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E1D-41E7-8002-2005D40F58C2}"/>
              </c:ext>
            </c:extLst>
          </c:dPt>
          <c:dPt>
            <c:idx val="2"/>
            <c:invertIfNegative val="0"/>
            <c:bubble3D val="0"/>
            <c:spPr>
              <a:solidFill>
                <a:srgbClr val="1565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E1D-41E7-8002-2005D40F58C2}"/>
              </c:ext>
            </c:extLst>
          </c:dPt>
          <c:dPt>
            <c:idx val="3"/>
            <c:invertIfNegative val="0"/>
            <c:bubble3D val="0"/>
            <c:spPr>
              <a:solidFill>
                <a:srgbClr val="1565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E1D-41E7-8002-2005D40F58C2}"/>
              </c:ext>
            </c:extLst>
          </c:dPt>
          <c:dPt>
            <c:idx val="4"/>
            <c:invertIfNegative val="0"/>
            <c:bubble3D val="0"/>
            <c:spPr>
              <a:solidFill>
                <a:srgbClr val="1565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DE1D-41E7-8002-2005D40F58C2}"/>
              </c:ext>
            </c:extLst>
          </c:dPt>
          <c:dPt>
            <c:idx val="5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DE1D-41E7-8002-2005D40F58C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ar-T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Truong
2020
(USA)</c:v>
                </c:pt>
                <c:pt idx="1">
                  <c:v>Manasa
2024
(India)</c:v>
                </c:pt>
                <c:pt idx="2">
                  <c:v>Varma
2025
(Bosnia)</c:v>
                </c:pt>
                <c:pt idx="3">
                  <c:v>Baldominos
2022
(Spain)</c:v>
                </c:pt>
                <c:pt idx="4">
                  <c:v>Pai
2020
(Taiwan)</c:v>
                </c:pt>
                <c:pt idx="5">
                  <c:v>Our Work
2026
(Tunisia)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0.88</c:v>
                </c:pt>
                <c:pt idx="1">
                  <c:v>0.84</c:v>
                </c:pt>
                <c:pt idx="2">
                  <c:v>0.87</c:v>
                </c:pt>
                <c:pt idx="3">
                  <c:v>0.79</c:v>
                </c:pt>
                <c:pt idx="4">
                  <c:v>0.82</c:v>
                </c:pt>
                <c:pt idx="5">
                  <c:v>0.4708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DE1D-41E7-8002-2005D40F58C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ar-TN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ar-TN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39057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743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École Polytechnique de Sousse  ·  2025–2026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9144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Bernard MT Condensed" panose="02050806060905020404" pitchFamily="18" charset="0"/>
                <a:ea typeface="Calibri" pitchFamily="34" charset="-122"/>
                <a:cs typeface="Calibri" pitchFamily="34" charset="-120"/>
              </a:rPr>
              <a:t>Real Estate Price Prediction</a:t>
            </a:r>
            <a:endParaRPr lang="en-US" sz="4400" dirty="0">
              <a:latin typeface="Bernard MT Condensed" panose="020508060609050204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14400" y="16916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Tunisia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914400" y="2423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Learning Approach — CRISP-DM Methodology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2926080"/>
            <a:ext cx="3657600" cy="36576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108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Hamed Ibn Hadj Mohamed  ·  Mahdi Oueslati  ·  Chadi Letaief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3749040"/>
            <a:ext cx="1828800" cy="91440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3794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5,653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14400" y="42245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017520" y="3749040"/>
            <a:ext cx="1828800" cy="91440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017520" y="3794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017520" y="42245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120640" y="3749040"/>
            <a:ext cx="1828800" cy="91440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120640" y="3794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120640" y="42245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Governorates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223760" y="3749040"/>
            <a:ext cx="1828800" cy="91440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223760" y="3794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0.47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223760" y="42245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R²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304796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-20156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800" dirty="0"/>
          </a:p>
        </p:txBody>
      </p:sp>
      <p:grpSp>
        <p:nvGrpSpPr>
          <p:cNvPr id="39" name="Group 38"/>
          <p:cNvGrpSpPr/>
          <p:nvPr/>
        </p:nvGrpSpPr>
        <p:grpSpPr>
          <a:xfrm>
            <a:off x="365760" y="824926"/>
            <a:ext cx="4114800" cy="886968"/>
            <a:chOff x="365760" y="775766"/>
            <a:chExt cx="4114800" cy="1005840"/>
          </a:xfrm>
        </p:grpSpPr>
        <p:sp>
          <p:nvSpPr>
            <p:cNvPr id="4" name="Shape 2"/>
            <p:cNvSpPr/>
            <p:nvPr/>
          </p:nvSpPr>
          <p:spPr>
            <a:xfrm>
              <a:off x="365760" y="775766"/>
              <a:ext cx="4114800" cy="100584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5" name="Shape 3"/>
            <p:cNvSpPr/>
            <p:nvPr/>
          </p:nvSpPr>
          <p:spPr>
            <a:xfrm>
              <a:off x="365760" y="775766"/>
              <a:ext cx="502920" cy="1005840"/>
            </a:xfrm>
            <a:prstGeom prst="rect">
              <a:avLst/>
            </a:prstGeom>
            <a:solidFill>
              <a:srgbClr val="1565C0"/>
            </a:solidFill>
            <a:ln/>
          </p:spPr>
        </p:sp>
      </p:grpSp>
      <p:sp>
        <p:nvSpPr>
          <p:cNvPr id="6" name="Text 4"/>
          <p:cNvSpPr/>
          <p:nvPr/>
        </p:nvSpPr>
        <p:spPr>
          <a:xfrm>
            <a:off x="365760" y="824926"/>
            <a:ext cx="50292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898078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Statement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346134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Context, motivation, objectives</a:t>
            </a:r>
            <a:endParaRPr lang="en-US" sz="1100" dirty="0"/>
          </a:p>
        </p:txBody>
      </p:sp>
      <p:grpSp>
        <p:nvGrpSpPr>
          <p:cNvPr id="40" name="Group 39"/>
          <p:cNvGrpSpPr/>
          <p:nvPr/>
        </p:nvGrpSpPr>
        <p:grpSpPr>
          <a:xfrm>
            <a:off x="4846320" y="824926"/>
            <a:ext cx="4114800" cy="886968"/>
            <a:chOff x="4846320" y="775766"/>
            <a:chExt cx="4114800" cy="886968"/>
          </a:xfrm>
        </p:grpSpPr>
        <p:sp>
          <p:nvSpPr>
            <p:cNvPr id="9" name="Shape 7"/>
            <p:cNvSpPr/>
            <p:nvPr/>
          </p:nvSpPr>
          <p:spPr>
            <a:xfrm>
              <a:off x="4846320" y="775766"/>
              <a:ext cx="4114800" cy="877824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0" name="Shape 8"/>
            <p:cNvSpPr/>
            <p:nvPr/>
          </p:nvSpPr>
          <p:spPr>
            <a:xfrm>
              <a:off x="4846320" y="775766"/>
              <a:ext cx="502920" cy="886968"/>
            </a:xfrm>
            <a:prstGeom prst="rect">
              <a:avLst/>
            </a:prstGeom>
            <a:solidFill>
              <a:srgbClr val="1565C0"/>
            </a:solidFill>
            <a:ln/>
          </p:spPr>
        </p:sp>
      </p:grpSp>
      <p:sp>
        <p:nvSpPr>
          <p:cNvPr id="11" name="Text 9"/>
          <p:cNvSpPr/>
          <p:nvPr/>
        </p:nvSpPr>
        <p:spPr>
          <a:xfrm>
            <a:off x="4846320" y="824926"/>
            <a:ext cx="50292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40680" y="898078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40680" y="1346134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&amp; comparison table</a:t>
            </a:r>
            <a:endParaRPr lang="en-US" sz="1100" dirty="0"/>
          </a:p>
        </p:txBody>
      </p:sp>
      <p:grpSp>
        <p:nvGrpSpPr>
          <p:cNvPr id="41" name="Group 40"/>
          <p:cNvGrpSpPr/>
          <p:nvPr/>
        </p:nvGrpSpPr>
        <p:grpSpPr>
          <a:xfrm>
            <a:off x="365760" y="1962517"/>
            <a:ext cx="4114800" cy="877824"/>
            <a:chOff x="365760" y="2010206"/>
            <a:chExt cx="4114800" cy="877824"/>
          </a:xfrm>
        </p:grpSpPr>
        <p:sp>
          <p:nvSpPr>
            <p:cNvPr id="14" name="Shape 12"/>
            <p:cNvSpPr/>
            <p:nvPr/>
          </p:nvSpPr>
          <p:spPr>
            <a:xfrm>
              <a:off x="365760" y="2010206"/>
              <a:ext cx="4114800" cy="877824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5" name="Shape 13"/>
            <p:cNvSpPr/>
            <p:nvPr/>
          </p:nvSpPr>
          <p:spPr>
            <a:xfrm>
              <a:off x="365760" y="2010206"/>
              <a:ext cx="502920" cy="877824"/>
            </a:xfrm>
            <a:prstGeom prst="rect">
              <a:avLst/>
            </a:prstGeom>
            <a:solidFill>
              <a:srgbClr val="1565C0"/>
            </a:solidFill>
            <a:ln/>
          </p:spPr>
        </p:sp>
      </p:grpSp>
      <p:sp>
        <p:nvSpPr>
          <p:cNvPr id="16" name="Text 14"/>
          <p:cNvSpPr/>
          <p:nvPr/>
        </p:nvSpPr>
        <p:spPr>
          <a:xfrm>
            <a:off x="365760" y="1962517"/>
            <a:ext cx="502920" cy="877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0120" y="2035669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CRISP-DM Pipeline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2473887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collection, preprocessing, modeling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1962517"/>
            <a:ext cx="4114800" cy="8869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1962517"/>
            <a:ext cx="502920" cy="88696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1962517"/>
            <a:ext cx="50292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40680" y="2035669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Results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40680" y="2473887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comparison, best model analysis</a:t>
            </a:r>
            <a:endParaRPr lang="en-US" sz="1100" dirty="0"/>
          </a:p>
        </p:txBody>
      </p:sp>
      <p:grpSp>
        <p:nvGrpSpPr>
          <p:cNvPr id="42" name="Group 41"/>
          <p:cNvGrpSpPr/>
          <p:nvPr/>
        </p:nvGrpSpPr>
        <p:grpSpPr>
          <a:xfrm>
            <a:off x="365760" y="3097700"/>
            <a:ext cx="4114800" cy="886968"/>
            <a:chOff x="365760" y="3244646"/>
            <a:chExt cx="4114800" cy="886968"/>
          </a:xfrm>
        </p:grpSpPr>
        <p:sp>
          <p:nvSpPr>
            <p:cNvPr id="24" name="Shape 22"/>
            <p:cNvSpPr/>
            <p:nvPr/>
          </p:nvSpPr>
          <p:spPr>
            <a:xfrm>
              <a:off x="365760" y="3244646"/>
              <a:ext cx="4114800" cy="877824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25" name="Shape 23"/>
            <p:cNvSpPr/>
            <p:nvPr/>
          </p:nvSpPr>
          <p:spPr>
            <a:xfrm>
              <a:off x="365760" y="3244646"/>
              <a:ext cx="502920" cy="886968"/>
            </a:xfrm>
            <a:prstGeom prst="rect">
              <a:avLst/>
            </a:prstGeom>
            <a:solidFill>
              <a:srgbClr val="1565C0"/>
            </a:solidFill>
            <a:ln/>
          </p:spPr>
        </p:sp>
      </p:grpSp>
      <p:sp>
        <p:nvSpPr>
          <p:cNvPr id="26" name="Text 24"/>
          <p:cNvSpPr/>
          <p:nvPr/>
        </p:nvSpPr>
        <p:spPr>
          <a:xfrm>
            <a:off x="365760" y="3097700"/>
            <a:ext cx="50292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60120" y="3170852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&amp; Limitations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60120" y="3618908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 and constraints of the approach</a:t>
            </a:r>
            <a:endParaRPr lang="en-US" sz="1100" dirty="0"/>
          </a:p>
        </p:txBody>
      </p:sp>
      <p:grpSp>
        <p:nvGrpSpPr>
          <p:cNvPr id="43" name="Group 42"/>
          <p:cNvGrpSpPr/>
          <p:nvPr/>
        </p:nvGrpSpPr>
        <p:grpSpPr>
          <a:xfrm>
            <a:off x="4846320" y="3097700"/>
            <a:ext cx="4114800" cy="886968"/>
            <a:chOff x="4846320" y="3244646"/>
            <a:chExt cx="4114800" cy="1005840"/>
          </a:xfrm>
        </p:grpSpPr>
        <p:sp>
          <p:nvSpPr>
            <p:cNvPr id="29" name="Shape 27"/>
            <p:cNvSpPr/>
            <p:nvPr/>
          </p:nvSpPr>
          <p:spPr>
            <a:xfrm>
              <a:off x="4846320" y="3244646"/>
              <a:ext cx="4114800" cy="100584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30" name="Shape 28"/>
            <p:cNvSpPr/>
            <p:nvPr/>
          </p:nvSpPr>
          <p:spPr>
            <a:xfrm>
              <a:off x="4846320" y="3244646"/>
              <a:ext cx="502920" cy="1005840"/>
            </a:xfrm>
            <a:prstGeom prst="rect">
              <a:avLst/>
            </a:prstGeom>
            <a:solidFill>
              <a:srgbClr val="1565C0"/>
            </a:solidFill>
            <a:ln/>
          </p:spPr>
        </p:sp>
      </p:grpSp>
      <p:sp>
        <p:nvSpPr>
          <p:cNvPr id="31" name="Text 29"/>
          <p:cNvSpPr/>
          <p:nvPr/>
        </p:nvSpPr>
        <p:spPr>
          <a:xfrm>
            <a:off x="4846320" y="3097700"/>
            <a:ext cx="50292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40680" y="3170852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 Demo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440680" y="3618908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Functionalities &amp; live preview</a:t>
            </a:r>
            <a:endParaRPr lang="en-US" sz="1100" dirty="0"/>
          </a:p>
        </p:txBody>
      </p:sp>
      <p:grpSp>
        <p:nvGrpSpPr>
          <p:cNvPr id="44" name="Group 43"/>
          <p:cNvGrpSpPr/>
          <p:nvPr/>
        </p:nvGrpSpPr>
        <p:grpSpPr>
          <a:xfrm>
            <a:off x="2745172" y="4116761"/>
            <a:ext cx="4114800" cy="886968"/>
            <a:chOff x="365760" y="3987474"/>
            <a:chExt cx="4114800" cy="886968"/>
          </a:xfrm>
        </p:grpSpPr>
        <p:sp>
          <p:nvSpPr>
            <p:cNvPr id="34" name="Shape 32"/>
            <p:cNvSpPr/>
            <p:nvPr/>
          </p:nvSpPr>
          <p:spPr>
            <a:xfrm>
              <a:off x="365760" y="3987474"/>
              <a:ext cx="4114800" cy="886968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35" name="Shape 33"/>
            <p:cNvSpPr/>
            <p:nvPr/>
          </p:nvSpPr>
          <p:spPr>
            <a:xfrm>
              <a:off x="365760" y="3987474"/>
              <a:ext cx="502920" cy="886968"/>
            </a:xfrm>
            <a:prstGeom prst="rect">
              <a:avLst/>
            </a:prstGeom>
            <a:solidFill>
              <a:srgbClr val="1565C0"/>
            </a:solidFill>
            <a:ln/>
          </p:spPr>
        </p:sp>
      </p:grpSp>
      <p:sp>
        <p:nvSpPr>
          <p:cNvPr id="36" name="Text 34"/>
          <p:cNvSpPr/>
          <p:nvPr/>
        </p:nvSpPr>
        <p:spPr>
          <a:xfrm>
            <a:off x="2745172" y="4116761"/>
            <a:ext cx="50292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3339532" y="4189913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3339532" y="4637969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and perspectives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373623"/>
            <a:ext cx="9144000" cy="951959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-11847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Introduction &amp; Problem Statement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grpSp>
        <p:nvGrpSpPr>
          <p:cNvPr id="30" name="Group 29"/>
          <p:cNvGrpSpPr/>
          <p:nvPr/>
        </p:nvGrpSpPr>
        <p:grpSpPr>
          <a:xfrm>
            <a:off x="365760" y="1143000"/>
            <a:ext cx="4023360" cy="3474720"/>
            <a:chOff x="365760" y="1143000"/>
            <a:chExt cx="4023360" cy="3474720"/>
          </a:xfrm>
        </p:grpSpPr>
        <p:sp>
          <p:nvSpPr>
            <p:cNvPr id="4" name="Shape 2"/>
            <p:cNvSpPr/>
            <p:nvPr/>
          </p:nvSpPr>
          <p:spPr>
            <a:xfrm>
              <a:off x="365760" y="1143000"/>
              <a:ext cx="4023360" cy="347472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5" name="Shape 3"/>
            <p:cNvSpPr/>
            <p:nvPr/>
          </p:nvSpPr>
          <p:spPr>
            <a:xfrm>
              <a:off x="365760" y="1143000"/>
              <a:ext cx="4023360" cy="457200"/>
            </a:xfrm>
            <a:prstGeom prst="rect">
              <a:avLst/>
            </a:prstGeom>
            <a:solidFill>
              <a:srgbClr val="0D1B2A"/>
            </a:solidFill>
            <a:ln/>
          </p:spPr>
        </p:sp>
        <p:sp>
          <p:nvSpPr>
            <p:cNvPr id="7" name="Text 5"/>
            <p:cNvSpPr/>
            <p:nvPr/>
          </p:nvSpPr>
          <p:spPr>
            <a:xfrm>
              <a:off x="502920" y="1737360"/>
              <a:ext cx="374904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0ACC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▸  </a:t>
              </a:r>
              <a:r>
                <a:rPr lang="en-US" sz="12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Tunisia's urban population exceeded 70% in 2022 (World Bank), increasing housing pressure</a:t>
              </a:r>
              <a:endParaRPr lang="en-US" sz="12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502920" y="2231136"/>
              <a:ext cx="374904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0ACC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▸  </a:t>
              </a:r>
              <a:r>
                <a:rPr lang="en-US" sz="12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Property valuation relies on subjective expert estimates — biased &amp; inconsistent</a:t>
              </a:r>
              <a:endParaRPr lang="en-US" sz="12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502920" y="2724912"/>
              <a:ext cx="374904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0ACC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▸  </a:t>
              </a:r>
              <a:r>
                <a:rPr lang="en-US" sz="12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 standardized data-driven methodology exists for the Tunisian market</a:t>
              </a:r>
              <a:endParaRPr lang="en-US" sz="12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502920" y="3218688"/>
              <a:ext cx="374904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0ACC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▸  </a:t>
              </a:r>
              <a:r>
                <a:rPr lang="en-US" sz="12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Gap between asking prices and real market conditions → unsold properties &amp; losses</a:t>
              </a:r>
              <a:endParaRPr lang="en-US" sz="12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502920" y="3712464"/>
              <a:ext cx="374904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0ACC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▸  </a:t>
              </a:r>
              <a:r>
                <a:rPr lang="en-US" sz="12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Buyers &amp; small investors lack access to objective pricing tools</a:t>
              </a:r>
              <a:endParaRPr lang="en-US" sz="1200" dirty="0"/>
            </a:p>
          </p:txBody>
        </p:sp>
      </p:grpSp>
      <p:sp>
        <p:nvSpPr>
          <p:cNvPr id="12" name="Shape 10"/>
          <p:cNvSpPr/>
          <p:nvPr/>
        </p:nvSpPr>
        <p:spPr>
          <a:xfrm>
            <a:off x="4754880" y="1143000"/>
            <a:ext cx="402336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143000"/>
            <a:ext cx="4023360" cy="457200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1887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Objectives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193792" y="173736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representative dataset of 5,653 Tunisian listings via web scraping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93792" y="2231136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5 supervised ML algorithms under identical conditions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193792" y="2724912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feature importance for Tunisian pricing factors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93792" y="3218688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 user-friendly web interface for non-expert users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93792" y="3712464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the first ML-based price tool for the Tunisian market</a:t>
            </a:r>
            <a:endParaRPr lang="en-US" sz="1200" dirty="0"/>
          </a:p>
        </p:txBody>
      </p:sp>
      <p:sp>
        <p:nvSpPr>
          <p:cNvPr id="32" name="Text 4"/>
          <p:cNvSpPr/>
          <p:nvPr/>
        </p:nvSpPr>
        <p:spPr>
          <a:xfrm>
            <a:off x="457200" y="119550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39328"/>
            <a:ext cx="9144000" cy="727587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-491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Related Work</a:t>
            </a:r>
            <a:endParaRPr lang="en-US" sz="2400" dirty="0"/>
          </a:p>
        </p:txBody>
      </p:sp>
      <p:sp>
        <p:nvSpPr>
          <p:cNvPr id="78" name="Shape 76"/>
          <p:cNvSpPr/>
          <p:nvPr/>
        </p:nvSpPr>
        <p:spPr>
          <a:xfrm>
            <a:off x="1645920" y="4012548"/>
            <a:ext cx="914400" cy="530352"/>
          </a:xfrm>
          <a:prstGeom prst="rect">
            <a:avLst/>
          </a:prstGeom>
          <a:solidFill>
            <a:srgbClr val="E3F2F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606040" y="405826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LR, RF, GBT,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XGBoost, KNN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4572000" y="4012548"/>
            <a:ext cx="1554480" cy="530352"/>
          </a:xfrm>
          <a:prstGeom prst="rect">
            <a:avLst/>
          </a:prstGeom>
          <a:solidFill>
            <a:srgbClr val="E3F2F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126480" y="4012548"/>
            <a:ext cx="731520" cy="530352"/>
          </a:xfrm>
          <a:prstGeom prst="rect">
            <a:avLst/>
          </a:prstGeom>
          <a:solidFill>
            <a:srgbClr val="E3F2F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858000" y="4012548"/>
            <a:ext cx="2194560" cy="530352"/>
          </a:xfrm>
          <a:prstGeom prst="rect">
            <a:avLst/>
          </a:prstGeom>
          <a:solidFill>
            <a:srgbClr val="E3F2FD"/>
          </a:solidFill>
          <a:ln w="6350">
            <a:solidFill>
              <a:srgbClr val="E2E8F0"/>
            </a:solidFill>
            <a:prstDash val="solid"/>
          </a:ln>
        </p:spPr>
      </p:sp>
      <p:grpSp>
        <p:nvGrpSpPr>
          <p:cNvPr id="91" name="Group 90"/>
          <p:cNvGrpSpPr/>
          <p:nvPr/>
        </p:nvGrpSpPr>
        <p:grpSpPr>
          <a:xfrm>
            <a:off x="274320" y="857868"/>
            <a:ext cx="8778240" cy="3685032"/>
            <a:chOff x="274320" y="857868"/>
            <a:chExt cx="8778240" cy="3685032"/>
          </a:xfrm>
        </p:grpSpPr>
        <p:sp>
          <p:nvSpPr>
            <p:cNvPr id="4" name="Shape 2"/>
            <p:cNvSpPr/>
            <p:nvPr/>
          </p:nvSpPr>
          <p:spPr>
            <a:xfrm>
              <a:off x="274320" y="857868"/>
              <a:ext cx="1371600" cy="411480"/>
            </a:xfrm>
            <a:prstGeom prst="rect">
              <a:avLst/>
            </a:prstGeom>
            <a:solidFill>
              <a:srgbClr val="1565C0"/>
            </a:solidFill>
            <a:ln/>
          </p:spPr>
        </p:sp>
        <p:sp>
          <p:nvSpPr>
            <p:cNvPr id="5" name="Text 3"/>
            <p:cNvSpPr/>
            <p:nvPr/>
          </p:nvSpPr>
          <p:spPr>
            <a:xfrm>
              <a:off x="320040" y="903588"/>
              <a:ext cx="12801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Ref / Year</a:t>
              </a:r>
              <a:endParaRPr lang="en-US" sz="900" dirty="0"/>
            </a:p>
          </p:txBody>
        </p:sp>
        <p:sp>
          <p:nvSpPr>
            <p:cNvPr id="6" name="Shape 4"/>
            <p:cNvSpPr/>
            <p:nvPr/>
          </p:nvSpPr>
          <p:spPr>
            <a:xfrm>
              <a:off x="1645920" y="857868"/>
              <a:ext cx="914400" cy="411480"/>
            </a:xfrm>
            <a:prstGeom prst="rect">
              <a:avLst/>
            </a:prstGeom>
            <a:solidFill>
              <a:srgbClr val="1565C0"/>
            </a:solidFill>
            <a:ln/>
          </p:spPr>
        </p:sp>
        <p:sp>
          <p:nvSpPr>
            <p:cNvPr id="7" name="Text 5"/>
            <p:cNvSpPr/>
            <p:nvPr/>
          </p:nvSpPr>
          <p:spPr>
            <a:xfrm>
              <a:off x="1691640" y="903588"/>
              <a:ext cx="8229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Country</a:t>
              </a:r>
              <a:endParaRPr lang="en-US" sz="9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2560320" y="857868"/>
              <a:ext cx="2011680" cy="411480"/>
            </a:xfrm>
            <a:prstGeom prst="rect">
              <a:avLst/>
            </a:prstGeom>
            <a:solidFill>
              <a:srgbClr val="1565C0"/>
            </a:solidFill>
            <a:ln/>
          </p:spPr>
        </p:sp>
        <p:sp>
          <p:nvSpPr>
            <p:cNvPr id="9" name="Text 7"/>
            <p:cNvSpPr/>
            <p:nvPr/>
          </p:nvSpPr>
          <p:spPr>
            <a:xfrm>
              <a:off x="2606040" y="903588"/>
              <a:ext cx="192024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ML Methods</a:t>
              </a:r>
              <a:endParaRPr lang="en-US" sz="9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4572000" y="857868"/>
              <a:ext cx="1554480" cy="411480"/>
            </a:xfrm>
            <a:prstGeom prst="rect">
              <a:avLst/>
            </a:prstGeom>
            <a:solidFill>
              <a:srgbClr val="1565C0"/>
            </a:solidFill>
            <a:ln/>
          </p:spPr>
        </p:sp>
        <p:sp>
          <p:nvSpPr>
            <p:cNvPr id="11" name="Text 9"/>
            <p:cNvSpPr/>
            <p:nvPr/>
          </p:nvSpPr>
          <p:spPr>
            <a:xfrm>
              <a:off x="4617720" y="903588"/>
              <a:ext cx="146304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Best Model</a:t>
              </a:r>
              <a:endParaRPr lang="en-US" sz="9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6126480" y="857868"/>
              <a:ext cx="731520" cy="411480"/>
            </a:xfrm>
            <a:prstGeom prst="rect">
              <a:avLst/>
            </a:prstGeom>
            <a:solidFill>
              <a:srgbClr val="1565C0"/>
            </a:solidFill>
            <a:ln/>
          </p:spPr>
        </p:sp>
        <p:sp>
          <p:nvSpPr>
            <p:cNvPr id="13" name="Text 11"/>
            <p:cNvSpPr/>
            <p:nvPr/>
          </p:nvSpPr>
          <p:spPr>
            <a:xfrm>
              <a:off x="6172200" y="903588"/>
              <a:ext cx="64008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R²</a:t>
              </a:r>
              <a:endParaRPr lang="en-US" sz="9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6858000" y="857868"/>
              <a:ext cx="2194560" cy="411480"/>
            </a:xfrm>
            <a:prstGeom prst="rect">
              <a:avLst/>
            </a:prstGeom>
            <a:solidFill>
              <a:srgbClr val="1565C0"/>
            </a:solidFill>
            <a:ln/>
          </p:spPr>
        </p:sp>
        <p:sp>
          <p:nvSpPr>
            <p:cNvPr id="15" name="Text 13"/>
            <p:cNvSpPr/>
            <p:nvPr/>
          </p:nvSpPr>
          <p:spPr>
            <a:xfrm>
              <a:off x="6903720" y="903588"/>
              <a:ext cx="210312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Key Insight</a:t>
              </a:r>
              <a:endParaRPr lang="en-US" sz="9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274320" y="1269348"/>
              <a:ext cx="1371600" cy="53035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</p:spPr>
        </p:sp>
        <p:sp>
          <p:nvSpPr>
            <p:cNvPr id="17" name="Text 15"/>
            <p:cNvSpPr/>
            <p:nvPr/>
          </p:nvSpPr>
          <p:spPr>
            <a:xfrm>
              <a:off x="320040" y="1315068"/>
              <a:ext cx="128016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Truong [1]</a:t>
              </a:r>
              <a:endParaRPr lang="en-US" sz="1100" dirty="0"/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2020</a:t>
              </a:r>
              <a:endParaRPr lang="en-US" sz="11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1645920" y="1269348"/>
              <a:ext cx="914400" cy="53035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1691640" y="1315068"/>
              <a:ext cx="82296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USA</a:t>
              </a:r>
              <a:endParaRPr lang="en-US" sz="11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2560320" y="1269348"/>
              <a:ext cx="2011680" cy="53035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</p:spPr>
        </p:sp>
        <p:sp>
          <p:nvSpPr>
            <p:cNvPr id="21" name="Text 19"/>
            <p:cNvSpPr/>
            <p:nvPr/>
          </p:nvSpPr>
          <p:spPr>
            <a:xfrm>
              <a:off x="2606040" y="1315068"/>
              <a:ext cx="192024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LR, RF, XGBoost,</a:t>
              </a:r>
              <a:endParaRPr lang="en-US" sz="1100" dirty="0"/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Stacking</a:t>
              </a:r>
              <a:endParaRPr lang="en-US" sz="11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4572000" y="1269348"/>
              <a:ext cx="1554480" cy="53035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</p:spPr>
        </p:sp>
        <p:sp>
          <p:nvSpPr>
            <p:cNvPr id="23" name="Text 21"/>
            <p:cNvSpPr/>
            <p:nvPr/>
          </p:nvSpPr>
          <p:spPr>
            <a:xfrm>
              <a:off x="4617720" y="1315068"/>
              <a:ext cx="146304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Stacking</a:t>
              </a:r>
              <a:endParaRPr lang="en-US" sz="1100" dirty="0"/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Ensemble</a:t>
              </a:r>
              <a:endParaRPr lang="en-US" sz="11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6126480" y="1269348"/>
              <a:ext cx="731520" cy="53035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</p:spPr>
        </p:sp>
        <p:sp>
          <p:nvSpPr>
            <p:cNvPr id="25" name="Text 23"/>
            <p:cNvSpPr/>
            <p:nvPr/>
          </p:nvSpPr>
          <p:spPr>
            <a:xfrm>
              <a:off x="6172200" y="1315068"/>
              <a:ext cx="64008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0.88</a:t>
              </a:r>
              <a:endParaRPr lang="en-US" sz="11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6858000" y="1269348"/>
              <a:ext cx="2194560" cy="53035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</p:spPr>
        </p:sp>
        <p:sp>
          <p:nvSpPr>
            <p:cNvPr id="27" name="Text 25"/>
            <p:cNvSpPr/>
            <p:nvPr/>
          </p:nvSpPr>
          <p:spPr>
            <a:xfrm>
              <a:off x="6903720" y="1315068"/>
              <a:ext cx="210312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Stacking outperforms individual models</a:t>
              </a:r>
              <a:endParaRPr lang="en-US" sz="11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274320" y="1817988"/>
              <a:ext cx="1371600" cy="530352"/>
            </a:xfrm>
            <a:prstGeom prst="rect">
              <a:avLst/>
            </a:prstGeom>
            <a:solidFill>
              <a:srgbClr val="F8FAFC"/>
            </a:solidFill>
            <a:ln w="6350">
              <a:solidFill>
                <a:srgbClr val="E2E8F0"/>
              </a:solidFill>
              <a:prstDash val="solid"/>
            </a:ln>
          </p:spPr>
        </p:sp>
        <p:sp>
          <p:nvSpPr>
            <p:cNvPr id="29" name="Text 27"/>
            <p:cNvSpPr/>
            <p:nvPr/>
          </p:nvSpPr>
          <p:spPr>
            <a:xfrm>
              <a:off x="320040" y="1863708"/>
              <a:ext cx="128016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Pai [3]</a:t>
              </a:r>
              <a:endParaRPr lang="en-US" sz="1100" dirty="0"/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2020</a:t>
              </a:r>
              <a:endParaRPr lang="en-US" sz="11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1645920" y="1817988"/>
              <a:ext cx="914400" cy="530352"/>
            </a:xfrm>
            <a:prstGeom prst="rect">
              <a:avLst/>
            </a:prstGeom>
            <a:solidFill>
              <a:srgbClr val="F8FAFC"/>
            </a:solidFill>
            <a:ln w="6350">
              <a:solidFill>
                <a:srgbClr val="E2E8F0"/>
              </a:solidFill>
              <a:prstDash val="solid"/>
            </a:ln>
          </p:spPr>
        </p:sp>
        <p:sp>
          <p:nvSpPr>
            <p:cNvPr id="31" name="Text 29"/>
            <p:cNvSpPr/>
            <p:nvPr/>
          </p:nvSpPr>
          <p:spPr>
            <a:xfrm>
              <a:off x="1691640" y="1863708"/>
              <a:ext cx="82296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Taiwan</a:t>
              </a:r>
              <a:endParaRPr lang="en-US" sz="11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2560320" y="1817988"/>
              <a:ext cx="2011680" cy="530352"/>
            </a:xfrm>
            <a:prstGeom prst="rect">
              <a:avLst/>
            </a:prstGeom>
            <a:solidFill>
              <a:srgbClr val="F8FAFC"/>
            </a:solidFill>
            <a:ln w="6350">
              <a:solidFill>
                <a:srgbClr val="E2E8F0"/>
              </a:solidFill>
              <a:prstDash val="solid"/>
            </a:ln>
          </p:spPr>
        </p:sp>
        <p:sp>
          <p:nvSpPr>
            <p:cNvPr id="33" name="Text 31"/>
            <p:cNvSpPr/>
            <p:nvPr/>
          </p:nvSpPr>
          <p:spPr>
            <a:xfrm>
              <a:off x="2606040" y="1863708"/>
              <a:ext cx="192024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ANN, SVM, RF</a:t>
              </a:r>
              <a:endParaRPr lang="en-US" sz="1100" dirty="0"/>
            </a:p>
          </p:txBody>
        </p:sp>
        <p:sp>
          <p:nvSpPr>
            <p:cNvPr id="34" name="Shape 32"/>
            <p:cNvSpPr/>
            <p:nvPr/>
          </p:nvSpPr>
          <p:spPr>
            <a:xfrm>
              <a:off x="4572000" y="1817988"/>
              <a:ext cx="1554480" cy="530352"/>
            </a:xfrm>
            <a:prstGeom prst="rect">
              <a:avLst/>
            </a:prstGeom>
            <a:solidFill>
              <a:srgbClr val="F8FAFC"/>
            </a:solidFill>
            <a:ln w="6350">
              <a:solidFill>
                <a:srgbClr val="E2E8F0"/>
              </a:solidFill>
              <a:prstDash val="solid"/>
            </a:ln>
          </p:spPr>
        </p:sp>
        <p:sp>
          <p:nvSpPr>
            <p:cNvPr id="35" name="Text 33"/>
            <p:cNvSpPr/>
            <p:nvPr/>
          </p:nvSpPr>
          <p:spPr>
            <a:xfrm>
              <a:off x="4617720" y="1863708"/>
              <a:ext cx="146304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ANN</a:t>
              </a:r>
              <a:endParaRPr lang="en-US" sz="800" dirty="0"/>
            </a:p>
          </p:txBody>
        </p:sp>
        <p:sp>
          <p:nvSpPr>
            <p:cNvPr id="36" name="Shape 34"/>
            <p:cNvSpPr/>
            <p:nvPr/>
          </p:nvSpPr>
          <p:spPr>
            <a:xfrm>
              <a:off x="6126480" y="1817988"/>
              <a:ext cx="731520" cy="530352"/>
            </a:xfrm>
            <a:prstGeom prst="rect">
              <a:avLst/>
            </a:prstGeom>
            <a:solidFill>
              <a:srgbClr val="F8FAFC"/>
            </a:solidFill>
            <a:ln w="6350">
              <a:solidFill>
                <a:srgbClr val="E2E8F0"/>
              </a:solidFill>
              <a:prstDash val="solid"/>
            </a:ln>
          </p:spPr>
        </p:sp>
        <p:sp>
          <p:nvSpPr>
            <p:cNvPr id="37" name="Text 35"/>
            <p:cNvSpPr/>
            <p:nvPr/>
          </p:nvSpPr>
          <p:spPr>
            <a:xfrm>
              <a:off x="6172200" y="1863708"/>
              <a:ext cx="64008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0.82</a:t>
              </a:r>
              <a:endParaRPr lang="en-US" sz="1100" dirty="0"/>
            </a:p>
          </p:txBody>
        </p:sp>
        <p:sp>
          <p:nvSpPr>
            <p:cNvPr id="38" name="Shape 36"/>
            <p:cNvSpPr/>
            <p:nvPr/>
          </p:nvSpPr>
          <p:spPr>
            <a:xfrm>
              <a:off x="6858000" y="1817988"/>
              <a:ext cx="2194560" cy="530352"/>
            </a:xfrm>
            <a:prstGeom prst="rect">
              <a:avLst/>
            </a:prstGeom>
            <a:solidFill>
              <a:srgbClr val="F8FAFC"/>
            </a:solidFill>
            <a:ln w="6350">
              <a:solidFill>
                <a:srgbClr val="E2E8F0"/>
              </a:solidFill>
              <a:prstDash val="solid"/>
            </a:ln>
          </p:spPr>
        </p:sp>
        <p:sp>
          <p:nvSpPr>
            <p:cNvPr id="39" name="Text 37"/>
            <p:cNvSpPr/>
            <p:nvPr/>
          </p:nvSpPr>
          <p:spPr>
            <a:xfrm>
              <a:off x="6903720" y="1863708"/>
              <a:ext cx="210312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ANN best for non-linear data</a:t>
              </a:r>
              <a:endParaRPr lang="en-US" sz="1100" dirty="0"/>
            </a:p>
          </p:txBody>
        </p:sp>
        <p:sp>
          <p:nvSpPr>
            <p:cNvPr id="40" name="Shape 38"/>
            <p:cNvSpPr/>
            <p:nvPr/>
          </p:nvSpPr>
          <p:spPr>
            <a:xfrm>
              <a:off x="274320" y="2366628"/>
              <a:ext cx="1371600" cy="53035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</p:spPr>
        </p:sp>
        <p:sp>
          <p:nvSpPr>
            <p:cNvPr id="41" name="Text 39"/>
            <p:cNvSpPr/>
            <p:nvPr/>
          </p:nvSpPr>
          <p:spPr>
            <a:xfrm>
              <a:off x="320040" y="2412348"/>
              <a:ext cx="128016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Baldominos [5]</a:t>
              </a:r>
              <a:endParaRPr lang="en-US" sz="1100" dirty="0"/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2022</a:t>
              </a:r>
              <a:endParaRPr lang="en-US" sz="1100" dirty="0"/>
            </a:p>
          </p:txBody>
        </p:sp>
        <p:sp>
          <p:nvSpPr>
            <p:cNvPr id="42" name="Shape 40"/>
            <p:cNvSpPr/>
            <p:nvPr/>
          </p:nvSpPr>
          <p:spPr>
            <a:xfrm>
              <a:off x="1645920" y="2366628"/>
              <a:ext cx="914400" cy="53035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</p:spPr>
        </p:sp>
        <p:sp>
          <p:nvSpPr>
            <p:cNvPr id="43" name="Text 41"/>
            <p:cNvSpPr/>
            <p:nvPr/>
          </p:nvSpPr>
          <p:spPr>
            <a:xfrm>
              <a:off x="1691640" y="2412348"/>
              <a:ext cx="82296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Spain</a:t>
              </a:r>
              <a:endParaRPr lang="en-US" sz="1100" dirty="0"/>
            </a:p>
          </p:txBody>
        </p:sp>
        <p:sp>
          <p:nvSpPr>
            <p:cNvPr id="44" name="Shape 42"/>
            <p:cNvSpPr/>
            <p:nvPr/>
          </p:nvSpPr>
          <p:spPr>
            <a:xfrm>
              <a:off x="2560320" y="2366628"/>
              <a:ext cx="2011680" cy="53035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</p:spPr>
        </p:sp>
        <p:sp>
          <p:nvSpPr>
            <p:cNvPr id="45" name="Text 43"/>
            <p:cNvSpPr/>
            <p:nvPr/>
          </p:nvSpPr>
          <p:spPr>
            <a:xfrm>
              <a:off x="2606040" y="2412348"/>
              <a:ext cx="192024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LR, DT, RF,</a:t>
              </a:r>
              <a:endParaRPr lang="en-US" sz="1100" dirty="0"/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XGBoost, SVR</a:t>
              </a:r>
              <a:endParaRPr lang="en-US" sz="1100" dirty="0"/>
            </a:p>
          </p:txBody>
        </p:sp>
        <p:sp>
          <p:nvSpPr>
            <p:cNvPr id="46" name="Shape 44"/>
            <p:cNvSpPr/>
            <p:nvPr/>
          </p:nvSpPr>
          <p:spPr>
            <a:xfrm>
              <a:off x="4572000" y="2366628"/>
              <a:ext cx="1554480" cy="53035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</p:spPr>
        </p:sp>
        <p:sp>
          <p:nvSpPr>
            <p:cNvPr id="47" name="Text 45"/>
            <p:cNvSpPr/>
            <p:nvPr/>
          </p:nvSpPr>
          <p:spPr>
            <a:xfrm>
              <a:off x="4617720" y="2412348"/>
              <a:ext cx="146304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Random Forest</a:t>
              </a:r>
              <a:endParaRPr lang="en-US" sz="1100" dirty="0"/>
            </a:p>
          </p:txBody>
        </p:sp>
        <p:sp>
          <p:nvSpPr>
            <p:cNvPr id="48" name="Shape 46"/>
            <p:cNvSpPr/>
            <p:nvPr/>
          </p:nvSpPr>
          <p:spPr>
            <a:xfrm>
              <a:off x="6126480" y="2366628"/>
              <a:ext cx="731520" cy="53035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</p:spPr>
        </p:sp>
        <p:sp>
          <p:nvSpPr>
            <p:cNvPr id="49" name="Text 47"/>
            <p:cNvSpPr/>
            <p:nvPr/>
          </p:nvSpPr>
          <p:spPr>
            <a:xfrm>
              <a:off x="6172200" y="2412348"/>
              <a:ext cx="64008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0.79</a:t>
              </a:r>
              <a:endParaRPr lang="en-US" sz="800" dirty="0"/>
            </a:p>
          </p:txBody>
        </p:sp>
        <p:sp>
          <p:nvSpPr>
            <p:cNvPr id="50" name="Shape 48"/>
            <p:cNvSpPr/>
            <p:nvPr/>
          </p:nvSpPr>
          <p:spPr>
            <a:xfrm>
              <a:off x="6858000" y="2366628"/>
              <a:ext cx="2194560" cy="53035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</p:spPr>
        </p:sp>
        <p:sp>
          <p:nvSpPr>
            <p:cNvPr id="51" name="Text 49"/>
            <p:cNvSpPr/>
            <p:nvPr/>
          </p:nvSpPr>
          <p:spPr>
            <a:xfrm>
              <a:off x="6903720" y="2412348"/>
              <a:ext cx="210312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RF achieves lowest MAE</a:t>
              </a:r>
              <a:endParaRPr lang="en-US" sz="800" dirty="0"/>
            </a:p>
          </p:txBody>
        </p:sp>
        <p:sp>
          <p:nvSpPr>
            <p:cNvPr id="52" name="Shape 50"/>
            <p:cNvSpPr/>
            <p:nvPr/>
          </p:nvSpPr>
          <p:spPr>
            <a:xfrm>
              <a:off x="274320" y="2915268"/>
              <a:ext cx="1371600" cy="530352"/>
            </a:xfrm>
            <a:prstGeom prst="rect">
              <a:avLst/>
            </a:prstGeom>
            <a:solidFill>
              <a:srgbClr val="F8FAFC"/>
            </a:solidFill>
            <a:ln w="6350">
              <a:solidFill>
                <a:srgbClr val="E2E8F0"/>
              </a:solidFill>
              <a:prstDash val="solid"/>
            </a:ln>
          </p:spPr>
        </p:sp>
        <p:sp>
          <p:nvSpPr>
            <p:cNvPr id="53" name="Text 51"/>
            <p:cNvSpPr/>
            <p:nvPr/>
          </p:nvSpPr>
          <p:spPr>
            <a:xfrm>
              <a:off x="320040" y="2960988"/>
              <a:ext cx="128016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Manasa [6]</a:t>
              </a:r>
              <a:endParaRPr lang="en-US" sz="1100" dirty="0"/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2024</a:t>
              </a:r>
              <a:endParaRPr lang="en-US" sz="1100" dirty="0"/>
            </a:p>
          </p:txBody>
        </p:sp>
        <p:sp>
          <p:nvSpPr>
            <p:cNvPr id="54" name="Shape 52"/>
            <p:cNvSpPr/>
            <p:nvPr/>
          </p:nvSpPr>
          <p:spPr>
            <a:xfrm>
              <a:off x="1645920" y="2915268"/>
              <a:ext cx="914400" cy="530352"/>
            </a:xfrm>
            <a:prstGeom prst="rect">
              <a:avLst/>
            </a:prstGeom>
            <a:solidFill>
              <a:srgbClr val="F8FAFC"/>
            </a:solidFill>
            <a:ln w="6350">
              <a:solidFill>
                <a:srgbClr val="E2E8F0"/>
              </a:solidFill>
              <a:prstDash val="solid"/>
            </a:ln>
          </p:spPr>
        </p:sp>
        <p:sp>
          <p:nvSpPr>
            <p:cNvPr id="55" name="Text 53"/>
            <p:cNvSpPr/>
            <p:nvPr/>
          </p:nvSpPr>
          <p:spPr>
            <a:xfrm>
              <a:off x="1691640" y="2960988"/>
              <a:ext cx="82296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India</a:t>
              </a:r>
              <a:endParaRPr lang="en-US" sz="800" dirty="0"/>
            </a:p>
          </p:txBody>
        </p:sp>
        <p:sp>
          <p:nvSpPr>
            <p:cNvPr id="56" name="Shape 54"/>
            <p:cNvSpPr/>
            <p:nvPr/>
          </p:nvSpPr>
          <p:spPr>
            <a:xfrm>
              <a:off x="2560320" y="2915268"/>
              <a:ext cx="2011680" cy="530352"/>
            </a:xfrm>
            <a:prstGeom prst="rect">
              <a:avLst/>
            </a:prstGeom>
            <a:solidFill>
              <a:srgbClr val="F8FAFC"/>
            </a:solidFill>
            <a:ln w="6350">
              <a:solidFill>
                <a:srgbClr val="E2E8F0"/>
              </a:solidFill>
              <a:prstDash val="solid"/>
            </a:ln>
          </p:spPr>
        </p:sp>
        <p:sp>
          <p:nvSpPr>
            <p:cNvPr id="57" name="Text 55"/>
            <p:cNvSpPr/>
            <p:nvPr/>
          </p:nvSpPr>
          <p:spPr>
            <a:xfrm>
              <a:off x="2606040" y="2960988"/>
              <a:ext cx="192024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LR, DT, RF,</a:t>
              </a:r>
              <a:endParaRPr lang="en-US" sz="1100" dirty="0"/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KNN, GBT, XGB</a:t>
              </a:r>
              <a:endParaRPr lang="en-US" sz="1100" dirty="0"/>
            </a:p>
          </p:txBody>
        </p:sp>
        <p:sp>
          <p:nvSpPr>
            <p:cNvPr id="58" name="Shape 56"/>
            <p:cNvSpPr/>
            <p:nvPr/>
          </p:nvSpPr>
          <p:spPr>
            <a:xfrm>
              <a:off x="4572000" y="2915268"/>
              <a:ext cx="1554480" cy="530352"/>
            </a:xfrm>
            <a:prstGeom prst="rect">
              <a:avLst/>
            </a:prstGeom>
            <a:solidFill>
              <a:srgbClr val="F8FAFC"/>
            </a:solidFill>
            <a:ln w="6350">
              <a:solidFill>
                <a:srgbClr val="E2E8F0"/>
              </a:solidFill>
              <a:prstDash val="solid"/>
            </a:ln>
          </p:spPr>
        </p:sp>
        <p:sp>
          <p:nvSpPr>
            <p:cNvPr id="59" name="Text 57"/>
            <p:cNvSpPr/>
            <p:nvPr/>
          </p:nvSpPr>
          <p:spPr>
            <a:xfrm>
              <a:off x="4617720" y="2960988"/>
              <a:ext cx="146304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RF &amp; GBT</a:t>
              </a:r>
              <a:endParaRPr lang="en-US" sz="1100" dirty="0"/>
            </a:p>
          </p:txBody>
        </p:sp>
        <p:sp>
          <p:nvSpPr>
            <p:cNvPr id="60" name="Shape 58"/>
            <p:cNvSpPr/>
            <p:nvPr/>
          </p:nvSpPr>
          <p:spPr>
            <a:xfrm>
              <a:off x="6126480" y="2915268"/>
              <a:ext cx="731520" cy="530352"/>
            </a:xfrm>
            <a:prstGeom prst="rect">
              <a:avLst/>
            </a:prstGeom>
            <a:solidFill>
              <a:srgbClr val="F8FAFC"/>
            </a:solidFill>
            <a:ln w="6350">
              <a:solidFill>
                <a:srgbClr val="E2E8F0"/>
              </a:solidFill>
              <a:prstDash val="solid"/>
            </a:ln>
          </p:spPr>
        </p:sp>
        <p:sp>
          <p:nvSpPr>
            <p:cNvPr id="61" name="Text 59"/>
            <p:cNvSpPr/>
            <p:nvPr/>
          </p:nvSpPr>
          <p:spPr>
            <a:xfrm>
              <a:off x="6172200" y="2960988"/>
              <a:ext cx="64008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0.84</a:t>
              </a:r>
              <a:endParaRPr lang="en-US" sz="1100" dirty="0"/>
            </a:p>
          </p:txBody>
        </p:sp>
        <p:sp>
          <p:nvSpPr>
            <p:cNvPr id="62" name="Shape 60"/>
            <p:cNvSpPr/>
            <p:nvPr/>
          </p:nvSpPr>
          <p:spPr>
            <a:xfrm>
              <a:off x="6858000" y="2915268"/>
              <a:ext cx="2194560" cy="530352"/>
            </a:xfrm>
            <a:prstGeom prst="rect">
              <a:avLst/>
            </a:prstGeom>
            <a:solidFill>
              <a:srgbClr val="F8FAFC"/>
            </a:solidFill>
            <a:ln w="6350">
              <a:solidFill>
                <a:srgbClr val="E2E8F0"/>
              </a:solidFill>
              <a:prstDash val="solid"/>
            </a:ln>
          </p:spPr>
        </p:sp>
        <p:sp>
          <p:nvSpPr>
            <p:cNvPr id="63" name="Text 61"/>
            <p:cNvSpPr/>
            <p:nvPr/>
          </p:nvSpPr>
          <p:spPr>
            <a:xfrm>
              <a:off x="6903720" y="2960988"/>
              <a:ext cx="210312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DT overfits without pruning</a:t>
              </a:r>
              <a:endParaRPr lang="en-US" sz="800" dirty="0"/>
            </a:p>
          </p:txBody>
        </p:sp>
        <p:sp>
          <p:nvSpPr>
            <p:cNvPr id="64" name="Shape 62"/>
            <p:cNvSpPr/>
            <p:nvPr/>
          </p:nvSpPr>
          <p:spPr>
            <a:xfrm>
              <a:off x="274320" y="3463908"/>
              <a:ext cx="1371600" cy="53035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</p:spPr>
        </p:sp>
        <p:sp>
          <p:nvSpPr>
            <p:cNvPr id="65" name="Text 63"/>
            <p:cNvSpPr/>
            <p:nvPr/>
          </p:nvSpPr>
          <p:spPr>
            <a:xfrm>
              <a:off x="320040" y="3509628"/>
              <a:ext cx="128016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Varma [8]</a:t>
              </a:r>
              <a:endParaRPr lang="en-US" sz="1100" dirty="0"/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2025</a:t>
              </a:r>
              <a:endParaRPr lang="en-US" sz="1100" dirty="0"/>
            </a:p>
          </p:txBody>
        </p:sp>
        <p:sp>
          <p:nvSpPr>
            <p:cNvPr id="66" name="Shape 64"/>
            <p:cNvSpPr/>
            <p:nvPr/>
          </p:nvSpPr>
          <p:spPr>
            <a:xfrm>
              <a:off x="1645920" y="3463908"/>
              <a:ext cx="914400" cy="53035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</p:spPr>
        </p:sp>
        <p:sp>
          <p:nvSpPr>
            <p:cNvPr id="67" name="Text 65"/>
            <p:cNvSpPr/>
            <p:nvPr/>
          </p:nvSpPr>
          <p:spPr>
            <a:xfrm>
              <a:off x="1691640" y="3509628"/>
              <a:ext cx="82296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Bosnia</a:t>
              </a:r>
              <a:endParaRPr lang="en-US" sz="1100" dirty="0"/>
            </a:p>
          </p:txBody>
        </p:sp>
        <p:sp>
          <p:nvSpPr>
            <p:cNvPr id="68" name="Shape 66"/>
            <p:cNvSpPr/>
            <p:nvPr/>
          </p:nvSpPr>
          <p:spPr>
            <a:xfrm>
              <a:off x="2560320" y="3463908"/>
              <a:ext cx="2011680" cy="53035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</p:spPr>
        </p:sp>
        <p:sp>
          <p:nvSpPr>
            <p:cNvPr id="69" name="Text 67"/>
            <p:cNvSpPr/>
            <p:nvPr/>
          </p:nvSpPr>
          <p:spPr>
            <a:xfrm>
              <a:off x="2606040" y="3509628"/>
              <a:ext cx="192024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RF, GBT, XGBoost,</a:t>
              </a:r>
              <a:endParaRPr lang="en-US" sz="1100" dirty="0"/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LR, KNN</a:t>
              </a:r>
              <a:endParaRPr lang="en-US" sz="1100" dirty="0"/>
            </a:p>
          </p:txBody>
        </p:sp>
        <p:sp>
          <p:nvSpPr>
            <p:cNvPr id="70" name="Shape 68"/>
            <p:cNvSpPr/>
            <p:nvPr/>
          </p:nvSpPr>
          <p:spPr>
            <a:xfrm>
              <a:off x="4572000" y="3463908"/>
              <a:ext cx="1554480" cy="53035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</p:spPr>
        </p:sp>
        <p:sp>
          <p:nvSpPr>
            <p:cNvPr id="71" name="Text 69"/>
            <p:cNvSpPr/>
            <p:nvPr/>
          </p:nvSpPr>
          <p:spPr>
            <a:xfrm>
              <a:off x="4617720" y="3509628"/>
              <a:ext cx="146304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Random Forest</a:t>
              </a:r>
              <a:endParaRPr lang="en-US" sz="1100" dirty="0"/>
            </a:p>
          </p:txBody>
        </p:sp>
        <p:sp>
          <p:nvSpPr>
            <p:cNvPr id="72" name="Shape 70"/>
            <p:cNvSpPr/>
            <p:nvPr/>
          </p:nvSpPr>
          <p:spPr>
            <a:xfrm>
              <a:off x="6126480" y="3463908"/>
              <a:ext cx="731520" cy="53035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</p:spPr>
        </p:sp>
        <p:sp>
          <p:nvSpPr>
            <p:cNvPr id="73" name="Text 71"/>
            <p:cNvSpPr/>
            <p:nvPr/>
          </p:nvSpPr>
          <p:spPr>
            <a:xfrm>
              <a:off x="6172200" y="3509628"/>
              <a:ext cx="64008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0.87</a:t>
              </a:r>
              <a:endParaRPr lang="en-US" sz="1100" dirty="0"/>
            </a:p>
          </p:txBody>
        </p:sp>
        <p:sp>
          <p:nvSpPr>
            <p:cNvPr id="74" name="Shape 72"/>
            <p:cNvSpPr/>
            <p:nvPr/>
          </p:nvSpPr>
          <p:spPr>
            <a:xfrm>
              <a:off x="6858000" y="3463908"/>
              <a:ext cx="2194560" cy="53035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</p:spPr>
        </p:sp>
        <p:sp>
          <p:nvSpPr>
            <p:cNvPr id="75" name="Text 73"/>
            <p:cNvSpPr/>
            <p:nvPr/>
          </p:nvSpPr>
          <p:spPr>
            <a:xfrm>
              <a:off x="6903720" y="3509628"/>
              <a:ext cx="210312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Scraped data from online portals</a:t>
              </a:r>
              <a:endParaRPr lang="en-US" sz="1100" dirty="0"/>
            </a:p>
          </p:txBody>
        </p:sp>
        <p:sp>
          <p:nvSpPr>
            <p:cNvPr id="76" name="Shape 74"/>
            <p:cNvSpPr/>
            <p:nvPr/>
          </p:nvSpPr>
          <p:spPr>
            <a:xfrm>
              <a:off x="274320" y="4012548"/>
              <a:ext cx="1371600" cy="530352"/>
            </a:xfrm>
            <a:prstGeom prst="rect">
              <a:avLst/>
            </a:prstGeom>
            <a:solidFill>
              <a:srgbClr val="E3F2FD"/>
            </a:solidFill>
            <a:ln w="6350">
              <a:solidFill>
                <a:srgbClr val="E2E8F0"/>
              </a:solidFill>
              <a:prstDash val="solid"/>
            </a:ln>
          </p:spPr>
        </p:sp>
        <p:sp>
          <p:nvSpPr>
            <p:cNvPr id="77" name="Text 75"/>
            <p:cNvSpPr/>
            <p:nvPr/>
          </p:nvSpPr>
          <p:spPr>
            <a:xfrm>
              <a:off x="320040" y="4058268"/>
              <a:ext cx="128016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1565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Our Work</a:t>
              </a:r>
              <a:endParaRPr lang="en-US" sz="1100" dirty="0"/>
            </a:p>
            <a:p>
              <a:pPr marL="0" indent="0" algn="ctr">
                <a:buNone/>
              </a:pPr>
              <a:r>
                <a:rPr lang="en-US" sz="1100" b="1" dirty="0">
                  <a:solidFill>
                    <a:srgbClr val="1565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2026</a:t>
              </a:r>
              <a:endParaRPr lang="en-US" sz="1100" dirty="0"/>
            </a:p>
          </p:txBody>
        </p:sp>
        <p:sp>
          <p:nvSpPr>
            <p:cNvPr id="79" name="Text 77"/>
            <p:cNvSpPr/>
            <p:nvPr/>
          </p:nvSpPr>
          <p:spPr>
            <a:xfrm>
              <a:off x="1691640" y="4058268"/>
              <a:ext cx="82296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1565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Tunisia</a:t>
              </a:r>
              <a:endParaRPr lang="en-US" sz="1100" dirty="0"/>
            </a:p>
          </p:txBody>
        </p:sp>
        <p:sp>
          <p:nvSpPr>
            <p:cNvPr id="80" name="Shape 78"/>
            <p:cNvSpPr/>
            <p:nvPr/>
          </p:nvSpPr>
          <p:spPr>
            <a:xfrm>
              <a:off x="2560320" y="4012548"/>
              <a:ext cx="2011680" cy="530352"/>
            </a:xfrm>
            <a:prstGeom prst="rect">
              <a:avLst/>
            </a:prstGeom>
            <a:solidFill>
              <a:srgbClr val="E3F2FD"/>
            </a:solidFill>
            <a:ln w="6350">
              <a:solidFill>
                <a:srgbClr val="E2E8F0"/>
              </a:solidFill>
              <a:prstDash val="solid"/>
            </a:ln>
          </p:spPr>
        </p:sp>
        <p:sp>
          <p:nvSpPr>
            <p:cNvPr id="83" name="Text 81"/>
            <p:cNvSpPr/>
            <p:nvPr/>
          </p:nvSpPr>
          <p:spPr>
            <a:xfrm>
              <a:off x="4617720" y="4058268"/>
              <a:ext cx="146304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1565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Linear</a:t>
              </a:r>
              <a:endParaRPr lang="en-US" sz="1100" dirty="0"/>
            </a:p>
            <a:p>
              <a:pPr marL="0" indent="0" algn="ctr">
                <a:buNone/>
              </a:pPr>
              <a:r>
                <a:rPr lang="en-US" sz="1100" b="1" dirty="0">
                  <a:solidFill>
                    <a:srgbClr val="1565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Regression</a:t>
              </a:r>
              <a:endParaRPr lang="en-US" sz="1100" dirty="0"/>
            </a:p>
          </p:txBody>
        </p:sp>
        <p:sp>
          <p:nvSpPr>
            <p:cNvPr id="85" name="Text 83"/>
            <p:cNvSpPr/>
            <p:nvPr/>
          </p:nvSpPr>
          <p:spPr>
            <a:xfrm>
              <a:off x="6172200" y="4058268"/>
              <a:ext cx="64008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1565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0.47</a:t>
              </a:r>
              <a:endParaRPr lang="en-US" sz="1100" dirty="0"/>
            </a:p>
          </p:txBody>
        </p:sp>
        <p:sp>
          <p:nvSpPr>
            <p:cNvPr id="87" name="Text 85"/>
            <p:cNvSpPr/>
            <p:nvPr/>
          </p:nvSpPr>
          <p:spPr>
            <a:xfrm>
              <a:off x="6903720" y="4058268"/>
              <a:ext cx="210312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1565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First Tunisian ML price prediction tool</a:t>
              </a:r>
              <a:endParaRPr lang="en-US" sz="1100" dirty="0"/>
            </a:p>
          </p:txBody>
        </p:sp>
      </p:grpSp>
      <p:grpSp>
        <p:nvGrpSpPr>
          <p:cNvPr id="90" name="Group 89"/>
          <p:cNvGrpSpPr/>
          <p:nvPr/>
        </p:nvGrpSpPr>
        <p:grpSpPr>
          <a:xfrm>
            <a:off x="274320" y="4647216"/>
            <a:ext cx="8595360" cy="411480"/>
            <a:chOff x="274320" y="4332588"/>
            <a:chExt cx="8595360" cy="411480"/>
          </a:xfrm>
        </p:grpSpPr>
        <p:sp>
          <p:nvSpPr>
            <p:cNvPr id="88" name="Shape 86"/>
            <p:cNvSpPr/>
            <p:nvPr/>
          </p:nvSpPr>
          <p:spPr>
            <a:xfrm>
              <a:off x="274320" y="4332588"/>
              <a:ext cx="8595360" cy="411480"/>
            </a:xfrm>
            <a:prstGeom prst="rect">
              <a:avLst/>
            </a:prstGeom>
            <a:solidFill>
              <a:srgbClr val="FFF3CD"/>
            </a:solidFill>
            <a:ln/>
          </p:spPr>
        </p:sp>
        <p:sp>
          <p:nvSpPr>
            <p:cNvPr id="89" name="Text 87"/>
            <p:cNvSpPr/>
            <p:nvPr/>
          </p:nvSpPr>
          <p:spPr>
            <a:xfrm>
              <a:off x="365760" y="4378308"/>
              <a:ext cx="841248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i="1" dirty="0">
                  <a:solidFill>
                    <a:srgbClr val="85640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⚠  Key Finding: Despite a broad international literature, no prior study specifically addressed the Tunisian real estate market — motivating this work.</a:t>
              </a:r>
              <a:endParaRPr lang="en-US" sz="1100" dirty="0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2833657" y="4066711"/>
            <a:ext cx="132588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LR, RF, GBT,</a:t>
            </a:r>
            <a:endParaRPr lang="en-US" sz="1100" dirty="0"/>
          </a:p>
          <a:p>
            <a:pPr algn="ctr"/>
            <a:r>
              <a:rPr lang="en-US" sz="1100" b="1" dirty="0" err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KNN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285136"/>
            <a:ext cx="9144000" cy="1005840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34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Methodology: Dataset &amp; CRISP-DM Pipeline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2560320" cy="822960"/>
          </a:xfrm>
          <a:prstGeom prst="rect">
            <a:avLst/>
          </a:prstGeom>
          <a:solidFill>
            <a:srgbClr val="1565C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887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Tayara.tn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57276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~45% of listings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0" y="1143000"/>
            <a:ext cx="2560320" cy="822960"/>
          </a:xfrm>
          <a:prstGeom prst="rect">
            <a:avLst/>
          </a:prstGeom>
          <a:solidFill>
            <a:srgbClr val="00ACC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11887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Tunisiapromo.com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0" y="157276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~35% of listings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35040" y="1143000"/>
            <a:ext cx="2560320" cy="822960"/>
          </a:xfrm>
          <a:prstGeom prst="rect">
            <a:avLst/>
          </a:prstGeom>
          <a:solidFill>
            <a:srgbClr val="1E88E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0" y="11887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Mubawab.tn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35040" y="157276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~20% of listings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148840"/>
            <a:ext cx="4114800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48840"/>
            <a:ext cx="4114800" cy="3657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176272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Categories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26334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Appartements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02920" y="2898648"/>
            <a:ext cx="2523744" cy="1371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0" name="Text 18"/>
          <p:cNvSpPr/>
          <p:nvPr/>
        </p:nvSpPr>
        <p:spPr>
          <a:xfrm>
            <a:off x="3383280" y="2843784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41.4% (2,341)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02920" y="307238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Vente Appartements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02920" y="3337560"/>
            <a:ext cx="1542288" cy="1371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3" name="Text 21"/>
          <p:cNvSpPr/>
          <p:nvPr/>
        </p:nvSpPr>
        <p:spPr>
          <a:xfrm>
            <a:off x="3383280" y="3282696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25.3% (1,431)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02920" y="351129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Vente Maisons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02920" y="3776472"/>
            <a:ext cx="1054608" cy="1371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6" name="Text 24"/>
          <p:cNvSpPr/>
          <p:nvPr/>
        </p:nvSpPr>
        <p:spPr>
          <a:xfrm>
            <a:off x="3383280" y="372160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17.3% (975)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02920" y="39502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Maisons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02920" y="4215384"/>
            <a:ext cx="749808" cy="1371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9" name="Text 27"/>
          <p:cNvSpPr/>
          <p:nvPr/>
        </p:nvSpPr>
        <p:spPr>
          <a:xfrm>
            <a:off x="3383280" y="416052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12.3% (697)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02920" y="4389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Vacances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02920" y="4654296"/>
            <a:ext cx="225552" cy="1371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2" name="Text 30"/>
          <p:cNvSpPr/>
          <p:nvPr/>
        </p:nvSpPr>
        <p:spPr>
          <a:xfrm>
            <a:off x="3383280" y="459943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3.7% (209)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754880" y="2148840"/>
            <a:ext cx="4023360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2148840"/>
            <a:ext cx="4023360" cy="3657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5" name="Text 33"/>
          <p:cNvSpPr/>
          <p:nvPr/>
        </p:nvSpPr>
        <p:spPr>
          <a:xfrm>
            <a:off x="4846320" y="217627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CRISP-DM Phases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892040" y="2633472"/>
            <a:ext cx="256032" cy="256032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37" name="Text 35"/>
          <p:cNvSpPr/>
          <p:nvPr/>
        </p:nvSpPr>
        <p:spPr>
          <a:xfrm>
            <a:off x="4892040" y="262432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230368" y="262432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Understanding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858000" y="26243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Goals, KPIs, user roles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892040" y="3026664"/>
            <a:ext cx="256032" cy="256032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41" name="Text 39"/>
          <p:cNvSpPr/>
          <p:nvPr/>
        </p:nvSpPr>
        <p:spPr>
          <a:xfrm>
            <a:off x="4892040" y="30175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230368" y="30175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858000" y="3017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EDA, distributions, quality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892040" y="3419856"/>
            <a:ext cx="256032" cy="256032"/>
          </a:xfrm>
          <a:prstGeom prst="ellipse">
            <a:avLst/>
          </a:prstGeom>
          <a:solidFill>
            <a:srgbClr val="00ACC1"/>
          </a:solidFill>
          <a:ln/>
        </p:spPr>
      </p:sp>
      <p:sp>
        <p:nvSpPr>
          <p:cNvPr id="45" name="Text 43"/>
          <p:cNvSpPr/>
          <p:nvPr/>
        </p:nvSpPr>
        <p:spPr>
          <a:xfrm>
            <a:off x="4892040" y="34107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230368" y="341071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858000" y="34107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Cleaning, encoding, split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892040" y="3813048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9" name="Text 47"/>
          <p:cNvSpPr/>
          <p:nvPr/>
        </p:nvSpPr>
        <p:spPr>
          <a:xfrm>
            <a:off x="4892040" y="380390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230368" y="380390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858000" y="380390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5 algorithms, GridSearchCV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892040" y="4206240"/>
            <a:ext cx="256032" cy="25603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53" name="Text 51"/>
          <p:cNvSpPr/>
          <p:nvPr/>
        </p:nvSpPr>
        <p:spPr>
          <a:xfrm>
            <a:off x="4892040" y="419709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230368" y="419709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858000" y="419709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R², RMSE, MAE, CV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892040" y="4599432"/>
            <a:ext cx="256032" cy="256032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57" name="Text 55"/>
          <p:cNvSpPr/>
          <p:nvPr/>
        </p:nvSpPr>
        <p:spPr>
          <a:xfrm>
            <a:off x="4892040" y="459028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230368" y="459028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858000" y="45902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Django app, REST API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304796"/>
            <a:ext cx="9144000" cy="10058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344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Data Preprocessing &amp; Feature Engineering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27432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2743200" cy="3840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16128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60020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175564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raw columns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(incl. titre, prix, dates)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176272"/>
            <a:ext cx="256032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24028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65760" y="240487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useful columns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prix_num as target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1143000"/>
            <a:ext cx="27432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143000"/>
            <a:ext cx="2743200" cy="384048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14" name="Text 12"/>
          <p:cNvSpPr/>
          <p:nvPr/>
        </p:nvSpPr>
        <p:spPr>
          <a:xfrm>
            <a:off x="3246120" y="116128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1840" y="160020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291840" y="175564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Outliers: 0 TND → 210M TND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skewness (mean &gt;&gt; median)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91840" y="2176272"/>
            <a:ext cx="256032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8" name="Text 16"/>
          <p:cNvSpPr/>
          <p:nvPr/>
        </p:nvSpPr>
        <p:spPr>
          <a:xfrm>
            <a:off x="3291840" y="224028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291840" y="240487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&amp; extreme prices removed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distribution preserved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26480" y="1143000"/>
            <a:ext cx="27432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0" y="1143000"/>
            <a:ext cx="2743200" cy="3840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6172200" y="116128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17920" y="160020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217920" y="175564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Tunisian notation S+n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(S+0, S+1 … S+11)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17920" y="2176272"/>
            <a:ext cx="256032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0" y="224028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217920" y="240487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extracted via regex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'rooms' numeric variable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2971800"/>
            <a:ext cx="27432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2971800"/>
            <a:ext cx="274320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8"/>
          <p:cNvSpPr/>
          <p:nvPr/>
        </p:nvSpPr>
        <p:spPr>
          <a:xfrm>
            <a:off x="320040" y="299008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65760" y="342900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65760" y="358444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categorie, ville, localisation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(not directly usable)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4005072"/>
            <a:ext cx="256032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" y="406908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65760" y="423367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Encoding + One-Hot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(5,653 × 107) matrix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200400" y="2971800"/>
            <a:ext cx="27432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200400" y="2971800"/>
            <a:ext cx="2743200" cy="38404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8" name="Text 36"/>
          <p:cNvSpPr/>
          <p:nvPr/>
        </p:nvSpPr>
        <p:spPr>
          <a:xfrm>
            <a:off x="3246120" y="299008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291840" y="342900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291840" y="358444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scales across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variables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291840" y="4005072"/>
            <a:ext cx="256032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2" name="Text 40"/>
          <p:cNvSpPr/>
          <p:nvPr/>
        </p:nvSpPr>
        <p:spPr>
          <a:xfrm>
            <a:off x="3291840" y="406908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291840" y="423367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for KNN &amp; LR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scaling for tree models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126480" y="2971800"/>
            <a:ext cx="27432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126480" y="2971800"/>
            <a:ext cx="2743200" cy="3840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6" name="Text 44"/>
          <p:cNvSpPr/>
          <p:nvPr/>
        </p:nvSpPr>
        <p:spPr>
          <a:xfrm>
            <a:off x="6172200" y="299008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217920" y="342900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217920" y="358444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split → high variance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surface area available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217920" y="4005072"/>
            <a:ext cx="256032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0" name="Text 48"/>
          <p:cNvSpPr/>
          <p:nvPr/>
        </p:nvSpPr>
        <p:spPr>
          <a:xfrm>
            <a:off x="6217920" y="406908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217920" y="423367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80/20 split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cross-validation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294964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344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Machine Learning Algorithms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98959"/>
            <a:ext cx="859536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98959"/>
            <a:ext cx="109728" cy="6858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044679"/>
            <a:ext cx="1097280" cy="274320"/>
          </a:xfrm>
          <a:prstGeom prst="rect">
            <a:avLst/>
          </a:prstGeom>
          <a:solidFill>
            <a:srgbClr val="1565C0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044679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57200" y="1337287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77440" y="1090399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Algebraic OLS — no hyperparameters; interpretable coefficients per feature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63640" y="1163551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HP: None (OLS closed-form)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767055"/>
            <a:ext cx="859536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767055"/>
            <a:ext cx="109728" cy="685800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13" name="Shape 11"/>
          <p:cNvSpPr/>
          <p:nvPr/>
        </p:nvSpPr>
        <p:spPr>
          <a:xfrm>
            <a:off x="411480" y="1812775"/>
            <a:ext cx="1097280" cy="274320"/>
          </a:xfrm>
          <a:prstGeom prst="rect">
            <a:avLst/>
          </a:prstGeom>
          <a:solidFill>
            <a:srgbClr val="00ACC1">
              <a:alpha val="2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1812775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57200" y="2105383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377440" y="1858495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to outliers &amp; non-linearities; reduces variance via bagging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63640" y="1931647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HP: n_estimators, max_depth, </a:t>
            </a:r>
            <a:r>
              <a:rPr lang="en-US" sz="11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max_features</a:t>
            </a:r>
          </a:p>
        </p:txBody>
      </p:sp>
      <p:sp>
        <p:nvSpPr>
          <p:cNvPr id="18" name="Shape 16"/>
          <p:cNvSpPr/>
          <p:nvPr/>
        </p:nvSpPr>
        <p:spPr>
          <a:xfrm>
            <a:off x="274320" y="2535151"/>
            <a:ext cx="859536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535151"/>
            <a:ext cx="109728" cy="6858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Shape 18"/>
          <p:cNvSpPr/>
          <p:nvPr/>
        </p:nvSpPr>
        <p:spPr>
          <a:xfrm>
            <a:off x="411480" y="2580871"/>
            <a:ext cx="1097280" cy="274320"/>
          </a:xfrm>
          <a:prstGeom prst="rect">
            <a:avLst/>
          </a:prstGeom>
          <a:solidFill>
            <a:srgbClr val="7C3AED">
              <a:alpha val="2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2580871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57200" y="2873479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377440" y="2626591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error correction; strong regularisation for heterogeneous data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63640" y="2699743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HP: n_estimators, learning_rate, max_depth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3303247"/>
            <a:ext cx="859536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303247"/>
            <a:ext cx="109728" cy="6858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7" name="Shape 25"/>
          <p:cNvSpPr/>
          <p:nvPr/>
        </p:nvSpPr>
        <p:spPr>
          <a:xfrm>
            <a:off x="411480" y="3348967"/>
            <a:ext cx="1097280" cy="274320"/>
          </a:xfrm>
          <a:prstGeom prst="rect">
            <a:avLst/>
          </a:prstGeom>
          <a:solidFill>
            <a:srgbClr val="DC2626">
              <a:alpha val="2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11480" y="3348967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57200" y="3641575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377440" y="3394687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Regularised boosting; efficient on tabular data; overfitting resistant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63640" y="3467839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HP: n_estimators, learning_rate, max_depth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4071343"/>
            <a:ext cx="859536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74320" y="4071343"/>
            <a:ext cx="109728" cy="685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Shape 32"/>
          <p:cNvSpPr/>
          <p:nvPr/>
        </p:nvSpPr>
        <p:spPr>
          <a:xfrm>
            <a:off x="411480" y="4117063"/>
            <a:ext cx="1097280" cy="274320"/>
          </a:xfrm>
          <a:prstGeom prst="rect">
            <a:avLst/>
          </a:prstGeom>
          <a:solidFill>
            <a:srgbClr val="D97706">
              <a:alpha val="2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411480" y="4117063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57200" y="4409671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377440" y="4162783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Non-parametric; captures local price similarity; geographically clustered data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263640" y="4235935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HP: k ∈ {3, 5, 7, 10}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74320" y="4747999"/>
            <a:ext cx="8595360" cy="18288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40" name="Text 38"/>
          <p:cNvSpPr/>
          <p:nvPr/>
        </p:nvSpPr>
        <p:spPr>
          <a:xfrm>
            <a:off x="274320" y="484632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optimised with GridSearchCV (5-fold CV) on the training set using RMSE as the scoring metric.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428684"/>
            <a:ext cx="9144000" cy="10058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-118473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Experimental Results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1556545376"/>
              </p:ext>
            </p:extLst>
          </p:nvPr>
        </p:nvGraphicFramePr>
        <p:xfrm>
          <a:off x="274320" y="910468"/>
          <a:ext cx="429768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>
            <p:extLst>
              <p:ext uri="{D42A27DB-BD31-4B8C-83A1-F6EECF244321}">
                <p14:modId xmlns:p14="http://schemas.microsoft.com/office/powerpoint/2010/main" val="1242036168"/>
              </p:ext>
            </p:extLst>
          </p:nvPr>
        </p:nvGraphicFramePr>
        <p:xfrm>
          <a:off x="4754880" y="910468"/>
          <a:ext cx="411480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274320" y="4156588"/>
            <a:ext cx="8595360" cy="658368"/>
          </a:xfrm>
          <a:prstGeom prst="rect">
            <a:avLst/>
          </a:prstGeom>
          <a:solidFill>
            <a:srgbClr val="E8F5E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457200" y="420230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Best Model: Linear Regression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57200" y="44766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0.4708  ·  MAE = 80,337 TND  ·  RMSE = 197,432 TND  ·  CV Mean = 0.8895  ·  Inference: 0.05s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422783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-118476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Results Analysis &amp; Discussion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80971"/>
            <a:ext cx="1920240" cy="4114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5" name="Text 3"/>
          <p:cNvSpPr/>
          <p:nvPr/>
        </p:nvSpPr>
        <p:spPr>
          <a:xfrm>
            <a:off x="310896" y="926691"/>
            <a:ext cx="1847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194560" y="880971"/>
            <a:ext cx="1280160" cy="4114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2231136" y="926691"/>
            <a:ext cx="1207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Test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474720" y="880971"/>
            <a:ext cx="1371600" cy="4114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3511296" y="926691"/>
            <a:ext cx="1298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(TND)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46320" y="880971"/>
            <a:ext cx="1280160" cy="4114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1" name="Text 9"/>
          <p:cNvSpPr/>
          <p:nvPr/>
        </p:nvSpPr>
        <p:spPr>
          <a:xfrm>
            <a:off x="4882896" y="926691"/>
            <a:ext cx="1207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(TND)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26480" y="880971"/>
            <a:ext cx="1645920" cy="4114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3" name="Text 11"/>
          <p:cNvSpPr/>
          <p:nvPr/>
        </p:nvSpPr>
        <p:spPr>
          <a:xfrm>
            <a:off x="6163056" y="926691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Mean (±std)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772400" y="880971"/>
            <a:ext cx="1188720" cy="4114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7808976" y="926691"/>
            <a:ext cx="1115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1292451"/>
            <a:ext cx="1920240" cy="438912"/>
          </a:xfrm>
          <a:prstGeom prst="rect">
            <a:avLst/>
          </a:prstGeom>
          <a:solidFill>
            <a:srgbClr val="E3F2F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0896" y="1365603"/>
            <a:ext cx="18470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194560" y="1292451"/>
            <a:ext cx="1280160" cy="438912"/>
          </a:xfrm>
          <a:prstGeom prst="rect">
            <a:avLst/>
          </a:prstGeom>
          <a:solidFill>
            <a:srgbClr val="E3F2F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31136" y="1365603"/>
            <a:ext cx="1207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0.4708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474720" y="1292451"/>
            <a:ext cx="1371600" cy="438912"/>
          </a:xfrm>
          <a:prstGeom prst="rect">
            <a:avLst/>
          </a:prstGeom>
          <a:solidFill>
            <a:srgbClr val="E3F2F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11296" y="1365603"/>
            <a:ext cx="1298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197,432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46320" y="1292451"/>
            <a:ext cx="1280160" cy="438912"/>
          </a:xfrm>
          <a:prstGeom prst="rect">
            <a:avLst/>
          </a:prstGeom>
          <a:solidFill>
            <a:srgbClr val="E3F2F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82896" y="1365603"/>
            <a:ext cx="1207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80,337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126480" y="1292451"/>
            <a:ext cx="1645920" cy="438912"/>
          </a:xfrm>
          <a:prstGeom prst="rect">
            <a:avLst/>
          </a:prstGeom>
          <a:solidFill>
            <a:srgbClr val="E3F2F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63056" y="1365603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0.8895 (±0.0170)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772400" y="1292451"/>
            <a:ext cx="1188720" cy="438912"/>
          </a:xfrm>
          <a:prstGeom prst="rect">
            <a:avLst/>
          </a:prstGeom>
          <a:solidFill>
            <a:srgbClr val="E3F2F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08976" y="1365603"/>
            <a:ext cx="1115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🥇 1st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1749651"/>
            <a:ext cx="192024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0896" y="1822803"/>
            <a:ext cx="18470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194560" y="1749651"/>
            <a:ext cx="128016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31136" y="1822803"/>
            <a:ext cx="1207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0.4656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474720" y="1749651"/>
            <a:ext cx="137160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11296" y="1822803"/>
            <a:ext cx="1298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198,396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46320" y="1749651"/>
            <a:ext cx="128016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82896" y="1822803"/>
            <a:ext cx="1207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80,448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126480" y="1749651"/>
            <a:ext cx="164592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63056" y="1822803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0.8893 (±0.0169)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772400" y="1749651"/>
            <a:ext cx="118872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808976" y="1822803"/>
            <a:ext cx="1115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74320" y="2206851"/>
            <a:ext cx="1920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10896" y="2280003"/>
            <a:ext cx="18470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194560" y="2206851"/>
            <a:ext cx="12801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231136" y="2280003"/>
            <a:ext cx="1207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0.4604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474720" y="2206851"/>
            <a:ext cx="13716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511296" y="2280003"/>
            <a:ext cx="1298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199,358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846320" y="2206851"/>
            <a:ext cx="12801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82896" y="2280003"/>
            <a:ext cx="1207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81,023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126480" y="2206851"/>
            <a:ext cx="16459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63056" y="2280003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0.8883 (±0.0171)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772400" y="2206851"/>
            <a:ext cx="11887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808976" y="2280003"/>
            <a:ext cx="1115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74320" y="2664051"/>
            <a:ext cx="192024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10896" y="2737203"/>
            <a:ext cx="18470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194560" y="2664051"/>
            <a:ext cx="128016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231136" y="2737203"/>
            <a:ext cx="1207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0.4603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474720" y="2664051"/>
            <a:ext cx="137160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511296" y="2737203"/>
            <a:ext cx="1298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199,371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846320" y="2664051"/>
            <a:ext cx="128016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82896" y="2737203"/>
            <a:ext cx="1207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80,904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126480" y="2664051"/>
            <a:ext cx="164592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163056" y="2737203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0.8885 (±0.0170)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772400" y="2664051"/>
            <a:ext cx="118872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808976" y="2737203"/>
            <a:ext cx="1115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4th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274320" y="3121251"/>
            <a:ext cx="1920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10896" y="3194403"/>
            <a:ext cx="18470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2194560" y="3121251"/>
            <a:ext cx="12801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231136" y="3194403"/>
            <a:ext cx="1207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0.2064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3474720" y="3121251"/>
            <a:ext cx="13716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511296" y="3194403"/>
            <a:ext cx="1298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241,769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4846320" y="3121251"/>
            <a:ext cx="12801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882896" y="3194403"/>
            <a:ext cx="1207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99,874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6126480" y="3121251"/>
            <a:ext cx="16459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163056" y="3194403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0.8420 (±0.0130)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7772400" y="3121251"/>
            <a:ext cx="11887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808976" y="3194403"/>
            <a:ext cx="1115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5th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274320" y="3670874"/>
            <a:ext cx="859536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274320" y="3680706"/>
            <a:ext cx="91440" cy="4114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8" name="Text 76"/>
          <p:cNvSpPr/>
          <p:nvPr/>
        </p:nvSpPr>
        <p:spPr>
          <a:xfrm>
            <a:off x="457200" y="372642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Linear Regression wins?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2834640" y="3698994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 expands features to 107 dims — allows linear model to capture city &amp; category price differentials as individual coefficients, avoiding deep-split variance on modest dataset.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274320" y="4137906"/>
            <a:ext cx="859536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1" name="Shape 79"/>
          <p:cNvSpPr/>
          <p:nvPr/>
        </p:nvSpPr>
        <p:spPr>
          <a:xfrm>
            <a:off x="274320" y="4137906"/>
            <a:ext cx="91440" cy="4114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2" name="Text 80"/>
          <p:cNvSpPr/>
          <p:nvPr/>
        </p:nvSpPr>
        <p:spPr>
          <a:xfrm>
            <a:off x="457200" y="418362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KNN performs worst?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2834640" y="4156194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Distance-based similarity breaks down in high-dimensional one-hot encoded space (curse of dimensionality).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274320" y="4595106"/>
            <a:ext cx="859536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5" name="Shape 83"/>
          <p:cNvSpPr/>
          <p:nvPr/>
        </p:nvSpPr>
        <p:spPr>
          <a:xfrm>
            <a:off x="274320" y="4595106"/>
            <a:ext cx="91440" cy="4114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86" name="Text 84"/>
          <p:cNvSpPr/>
          <p:nvPr/>
        </p:nvSpPr>
        <p:spPr>
          <a:xfrm>
            <a:off x="457200" y="464082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CV (0.88) vs Test (0.47)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2834640" y="4613394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Heavily right-skewed distribution: training dominated by low-price rentals; high-value sale properties inflate RMSE on test set.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285136"/>
            <a:ext cx="9144000" cy="1005840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344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Advantages &amp; Limitations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1480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411480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430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Advantages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691640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67335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ML-based price tool specifically for the Tunisian market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2121408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103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modelling of non-linear price interactions through categorical encoding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2551176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53288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robustness to noisy &amp; incomplete scraped real-world data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2980944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96265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CRISP-DM pipeline: reproducible &amp; documented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" y="3410712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39242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web interface accessible to non-expert users (agents, buyers, sellers)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11480" y="3840480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82219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Multi-role authentication system with role-specific dashboards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4270248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2519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for third-party integration (&lt; 2s response time)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1097280"/>
            <a:ext cx="411480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1097280"/>
            <a:ext cx="4114800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11430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Limitations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92040" y="1770222"/>
            <a:ext cx="201168" cy="20116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5" name="Text 23"/>
          <p:cNvSpPr/>
          <p:nvPr/>
        </p:nvSpPr>
        <p:spPr>
          <a:xfrm>
            <a:off x="4892040" y="176107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166360" y="1673352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</a:t>
            </a:r>
            <a:r>
              <a:rPr lang="en-US" sz="110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(m²) in scraped data — universally the dominant pricing variable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92040" y="2294955"/>
            <a:ext cx="201168" cy="20116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8" name="Text 26"/>
          <p:cNvSpPr/>
          <p:nvPr/>
        </p:nvSpPr>
        <p:spPr>
          <a:xfrm>
            <a:off x="4892040" y="2285811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166360" y="2167128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0.47 vs 0.79–0.88 in related work (bimodal distribution &amp; market specificity)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92040" y="2779205"/>
            <a:ext cx="201168" cy="20116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1" name="Text 29"/>
          <p:cNvSpPr/>
          <p:nvPr/>
        </p:nvSpPr>
        <p:spPr>
          <a:xfrm>
            <a:off x="4892040" y="2770061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166360" y="2660904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Underrepresentation of luxury properties (&gt;500K TND) → systematic underestimation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92040" y="3268220"/>
            <a:ext cx="201168" cy="20116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4" name="Text 32"/>
          <p:cNvSpPr/>
          <p:nvPr/>
        </p:nvSpPr>
        <p:spPr>
          <a:xfrm>
            <a:off x="4892040" y="325907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166360" y="3154680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spatio-temporal features (distance to sea, schools, macro trends)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892040" y="3753635"/>
            <a:ext cx="201168" cy="20116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7" name="Text 35"/>
          <p:cNvSpPr/>
          <p:nvPr/>
        </p:nvSpPr>
        <p:spPr>
          <a:xfrm>
            <a:off x="4892040" y="3744491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166360" y="3648456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Modest dataset size (5,653) relative to ML best practices for tabular regression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92040" y="4248627"/>
            <a:ext cx="201168" cy="20116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0" name="Text 38"/>
          <p:cNvSpPr/>
          <p:nvPr/>
        </p:nvSpPr>
        <p:spPr>
          <a:xfrm>
            <a:off x="4892040" y="4239483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166360" y="4142232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combined model for both rental &amp; sale listings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226136"/>
            <a:ext cx="9144000" cy="10058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9176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Web Application: Architecture &amp; Stack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21574"/>
            <a:ext cx="841248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21574"/>
            <a:ext cx="1828800" cy="7498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21574"/>
            <a:ext cx="1828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(Templates)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331720" y="1250174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 · Chart.js · Font Awesome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97680" y="1753094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⬇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890254"/>
            <a:ext cx="841248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890254"/>
            <a:ext cx="1828800" cy="7498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890254"/>
            <a:ext cx="1828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(Views/URLs)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331720" y="2118854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4.2 · Python 3.8+ · Multi-role Auth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97680" y="2621774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⬇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758934"/>
            <a:ext cx="841248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758934"/>
            <a:ext cx="1828800" cy="749808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758934"/>
            <a:ext cx="1828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Engine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331720" y="2987534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· XGBoost · FastAPI REST API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297680" y="3490454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⬇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627614"/>
            <a:ext cx="841248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627614"/>
            <a:ext cx="1828800" cy="7498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627614"/>
            <a:ext cx="1828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(Models)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331720" y="3856214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MySQL/MariaDB · 15+ data models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4542014"/>
            <a:ext cx="8412480" cy="347472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57859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Pipeline: GitHub Actions → Docker Build → Staging Tests → Production Deployment → Active Monitoring + Rollback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275304"/>
            <a:ext cx="9144000" cy="10058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43484" y="15733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Web Application: Key Functionalities</a:t>
            </a:r>
            <a:endParaRPr lang="en-US" sz="2400" dirty="0"/>
          </a:p>
        </p:txBody>
      </p:sp>
      <p:grpSp>
        <p:nvGrpSpPr>
          <p:cNvPr id="37" name="Group 36"/>
          <p:cNvGrpSpPr/>
          <p:nvPr/>
        </p:nvGrpSpPr>
        <p:grpSpPr>
          <a:xfrm>
            <a:off x="274320" y="760032"/>
            <a:ext cx="3749040" cy="4408392"/>
            <a:chOff x="274320" y="1097280"/>
            <a:chExt cx="3749040" cy="4041648"/>
          </a:xfrm>
        </p:grpSpPr>
        <p:sp>
          <p:nvSpPr>
            <p:cNvPr id="4" name="Shape 2"/>
            <p:cNvSpPr/>
            <p:nvPr/>
          </p:nvSpPr>
          <p:spPr>
            <a:xfrm>
              <a:off x="274320" y="1097280"/>
              <a:ext cx="3749040" cy="385876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5" name="Shape 3"/>
            <p:cNvSpPr/>
            <p:nvPr/>
          </p:nvSpPr>
          <p:spPr>
            <a:xfrm>
              <a:off x="274320" y="1097280"/>
              <a:ext cx="3749040" cy="301752"/>
            </a:xfrm>
            <a:prstGeom prst="rect">
              <a:avLst/>
            </a:prstGeom>
            <a:solidFill>
              <a:srgbClr val="E2E8F0"/>
            </a:solidFill>
            <a:ln/>
          </p:spPr>
        </p:sp>
        <p:sp>
          <p:nvSpPr>
            <p:cNvPr id="6" name="Shape 4"/>
            <p:cNvSpPr/>
            <p:nvPr/>
          </p:nvSpPr>
          <p:spPr>
            <a:xfrm>
              <a:off x="384048" y="1170432"/>
              <a:ext cx="118872" cy="118872"/>
            </a:xfrm>
            <a:prstGeom prst="ellipse">
              <a:avLst/>
            </a:prstGeom>
            <a:solidFill>
              <a:srgbClr val="EF4444"/>
            </a:solidFill>
            <a:ln/>
          </p:spPr>
        </p:sp>
        <p:sp>
          <p:nvSpPr>
            <p:cNvPr id="7" name="Shape 5"/>
            <p:cNvSpPr/>
            <p:nvPr/>
          </p:nvSpPr>
          <p:spPr>
            <a:xfrm>
              <a:off x="539496" y="1170432"/>
              <a:ext cx="118872" cy="118872"/>
            </a:xfrm>
            <a:prstGeom prst="ellipse">
              <a:avLst/>
            </a:prstGeom>
            <a:solidFill>
              <a:srgbClr val="F59E0B"/>
            </a:solidFill>
            <a:ln/>
          </p:spPr>
        </p:sp>
        <p:sp>
          <p:nvSpPr>
            <p:cNvPr id="8" name="Shape 6"/>
            <p:cNvSpPr/>
            <p:nvPr/>
          </p:nvSpPr>
          <p:spPr>
            <a:xfrm>
              <a:off x="694944" y="1170432"/>
              <a:ext cx="118872" cy="118872"/>
            </a:xfrm>
            <a:prstGeom prst="ellipse">
              <a:avLst/>
            </a:prstGeom>
            <a:solidFill>
              <a:srgbClr val="10B981"/>
            </a:solidFill>
            <a:ln/>
          </p:spPr>
        </p:sp>
        <p:sp>
          <p:nvSpPr>
            <p:cNvPr id="9" name="Shape 7"/>
            <p:cNvSpPr/>
            <p:nvPr/>
          </p:nvSpPr>
          <p:spPr>
            <a:xfrm>
              <a:off x="960120" y="1165860"/>
              <a:ext cx="2651760" cy="15544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BD5E1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960120" y="1161288"/>
              <a:ext cx="2651760" cy="17373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immo-tunisie.tn</a:t>
              </a:r>
              <a:endParaRPr lang="en-US" sz="700" dirty="0"/>
            </a:p>
          </p:txBody>
        </p:sp>
        <p:pic>
          <p:nvPicPr>
            <p:cNvPr id="11" name="Image 0" descr="/home/claude/accueil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4320" y="1399032"/>
              <a:ext cx="3749040" cy="3557016"/>
            </a:xfrm>
            <a:prstGeom prst="rect">
              <a:avLst/>
            </a:prstGeom>
          </p:spPr>
        </p:pic>
        <p:sp>
          <p:nvSpPr>
            <p:cNvPr id="12" name="Text 9"/>
            <p:cNvSpPr/>
            <p:nvPr/>
          </p:nvSpPr>
          <p:spPr>
            <a:xfrm>
              <a:off x="274320" y="4974336"/>
              <a:ext cx="3749040" cy="1645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i="1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Page d'accueil — Immo Tunisie</a:t>
              </a:r>
              <a:endParaRPr lang="en-US" sz="1000" dirty="0"/>
            </a:p>
          </p:txBody>
        </p:sp>
      </p:grpSp>
      <p:sp>
        <p:nvSpPr>
          <p:cNvPr id="13" name="Shape 10"/>
          <p:cNvSpPr/>
          <p:nvPr/>
        </p:nvSpPr>
        <p:spPr>
          <a:xfrm>
            <a:off x="4251960" y="1097280"/>
            <a:ext cx="2286000" cy="1801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251960" y="1097280"/>
            <a:ext cx="2286000" cy="4297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5" name="Text 12"/>
          <p:cNvSpPr/>
          <p:nvPr/>
        </p:nvSpPr>
        <p:spPr>
          <a:xfrm>
            <a:off x="4325112" y="1143000"/>
            <a:ext cx="21579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Multi-Role Auth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343400" y="1591056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roles: Agent, Seller, Buyer, Admin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343400" y="2020824"/>
            <a:ext cx="21305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Django sessions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343400" y="2450592"/>
            <a:ext cx="21305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Role-specific dashboards &amp; permissions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675120" y="1097280"/>
            <a:ext cx="2286000" cy="1801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675120" y="1097280"/>
            <a:ext cx="2286000" cy="4297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1" name="Text 18"/>
          <p:cNvSpPr/>
          <p:nvPr/>
        </p:nvSpPr>
        <p:spPr>
          <a:xfrm>
            <a:off x="6748272" y="1143000"/>
            <a:ext cx="21579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Property Management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766560" y="1591056"/>
            <a:ext cx="21305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 for real estate listings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766560" y="2020824"/>
            <a:ext cx="21305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search &amp; multi-criteria filters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766560" y="2450592"/>
            <a:ext cx="21305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Favorites system &amp; search history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251960" y="3054096"/>
            <a:ext cx="2286000" cy="1801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251960" y="3054096"/>
            <a:ext cx="2286000" cy="4297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7" name="Text 24"/>
          <p:cNvSpPr/>
          <p:nvPr/>
        </p:nvSpPr>
        <p:spPr>
          <a:xfrm>
            <a:off x="4325112" y="3099816"/>
            <a:ext cx="21579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Price Prediction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343400" y="3547872"/>
            <a:ext cx="21305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estimation + confidence score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343400" y="3977640"/>
            <a:ext cx="21305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similar properties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4343400" y="4407408"/>
            <a:ext cx="21305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REST endpoint (&lt; 2s)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6675120" y="3054096"/>
            <a:ext cx="2286000" cy="1801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6675120" y="3054096"/>
            <a:ext cx="2286000" cy="4297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3" name="Text 30"/>
          <p:cNvSpPr/>
          <p:nvPr/>
        </p:nvSpPr>
        <p:spPr>
          <a:xfrm>
            <a:off x="6748272" y="3099816"/>
            <a:ext cx="21579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</a:t>
            </a:r>
            <a:r>
              <a:rPr lang="en-US" sz="11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6766560" y="3547872"/>
            <a:ext cx="21305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interactive dashboard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6766560" y="3977640"/>
            <a:ext cx="21305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by city, type &amp; transaction type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6766560" y="4407408"/>
            <a:ext cx="21305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data export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304803"/>
            <a:ext cx="9144000" cy="10058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49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Comparison with Related Work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1758315009"/>
              </p:ext>
            </p:extLst>
          </p:nvPr>
        </p:nvGraphicFramePr>
        <p:xfrm>
          <a:off x="274320" y="920300"/>
          <a:ext cx="45720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029200" y="920300"/>
            <a:ext cx="3840480" cy="4572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3"/>
          <p:cNvSpPr/>
          <p:nvPr/>
        </p:nvSpPr>
        <p:spPr>
          <a:xfrm>
            <a:off x="5120640" y="9660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our R² lower?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029200" y="1487228"/>
            <a:ext cx="384048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074920" y="1532948"/>
            <a:ext cx="347472" cy="34747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6"/>
          <p:cNvSpPr/>
          <p:nvPr/>
        </p:nvSpPr>
        <p:spPr>
          <a:xfrm>
            <a:off x="5074920" y="15329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504688" y="153294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Bimodal price distribution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504688" y="1807268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 + sale listings combined in one model. Median: 3,500 TND vs Mean: 260,278 TND — inherently harder to fit.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029200" y="2511356"/>
            <a:ext cx="384048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074920" y="2557076"/>
            <a:ext cx="347472" cy="34747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4" name="Text 11"/>
          <p:cNvSpPr/>
          <p:nvPr/>
        </p:nvSpPr>
        <p:spPr>
          <a:xfrm>
            <a:off x="5074920" y="25570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504688" y="255707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surface area feature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504688" y="2831396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(m²) is universally the dominant predictor in the literature. Unavailable from scraped listings.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029200" y="3535484"/>
            <a:ext cx="384048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074920" y="3581204"/>
            <a:ext cx="347472" cy="34747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9" name="Text 16"/>
          <p:cNvSpPr/>
          <p:nvPr/>
        </p:nvSpPr>
        <p:spPr>
          <a:xfrm>
            <a:off x="5074920" y="358120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504688" y="358120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specificity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504688" y="3855524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Tunisian market has lower price standardisation than European/Asian markets. Less regulated &amp; less transparent.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029200" y="4559612"/>
            <a:ext cx="3840480" cy="32004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23" name="Text 20"/>
          <p:cNvSpPr/>
          <p:nvPr/>
        </p:nvSpPr>
        <p:spPr>
          <a:xfrm>
            <a:off x="5074920" y="4587044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constraints — first data-driven price tool for Tunisia.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7432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14400" y="960120"/>
            <a:ext cx="4572000" cy="36576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07899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Achievements: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1417320"/>
            <a:ext cx="45720" cy="256032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140817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full CRISP-DM cycle on 5,653 Tunisian real estate listings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14400" y="1819656"/>
            <a:ext cx="45720" cy="256032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181051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</a:t>
            </a: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</a:t>
            </a: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model: R²=0.47, MAE=80,337 TND, CV=0.89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14400" y="2221992"/>
            <a:ext cx="45720" cy="256032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21284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(governorate), category &amp; transaction type = dominant pricing factors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14400" y="2624328"/>
            <a:ext cx="45720" cy="256032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261518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as a full-stack Django application with REST API &amp; multi-role auth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14400" y="3026664"/>
            <a:ext cx="45720" cy="256032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30175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ML-based price estimation tool for the Tunisian real estate market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0" y="10789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Perspectives: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0" y="1435608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143560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303520" y="141732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rental &amp; sale models → reduce bimodal distribution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0" y="1837944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0" y="183794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303520" y="181965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GIS features: distance to sea, schools, infrastructure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0" y="2240280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0" y="224028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303520" y="222199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extraction from listing titles for quality signals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029200" y="2642616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0" y="264261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303520" y="262432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macroeconomic indicators (inflation, mortgage rates)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029200" y="3044952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0" y="3044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303520" y="302666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platform with automated data refresh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14399" y="4060723"/>
            <a:ext cx="7659329" cy="831317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4" name="Text 32"/>
          <p:cNvSpPr/>
          <p:nvPr/>
        </p:nvSpPr>
        <p:spPr>
          <a:xfrm>
            <a:off x="914400" y="4160031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&amp; Discussion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14400" y="45262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Hamed Ibn Hadj Mohamed  ·  Mahdi Oueslati  ·  Chadi Letaief  ·  École Polytechnique de Sousse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1579</Words>
  <Application>Microsoft Office PowerPoint</Application>
  <PresentationFormat>On-screen Show (16:9)</PresentationFormat>
  <Paragraphs>369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Bernard MT Condensed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 Estate Price Prediction in Tunisia</dc:title>
  <dc:subject>PptxGenJS Presentation</dc:subject>
  <dc:creator>Mohamed Hamed Ibn Hadj Mohamed, Mahdi Oueslati, Chadi Letaief</dc:creator>
  <cp:lastModifiedBy>Mohamed Hamed IBN HADJ MOHAMED</cp:lastModifiedBy>
  <cp:revision>14</cp:revision>
  <dcterms:created xsi:type="dcterms:W3CDTF">2026-05-17T14:11:28Z</dcterms:created>
  <dcterms:modified xsi:type="dcterms:W3CDTF">2026-05-17T15:01:56Z</dcterms:modified>
</cp:coreProperties>
</file>